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74" r:id="rId6"/>
    <p:sldId id="270" r:id="rId7"/>
    <p:sldId id="260" r:id="rId8"/>
    <p:sldId id="261" r:id="rId9"/>
    <p:sldId id="262" r:id="rId10"/>
    <p:sldId id="263" r:id="rId11"/>
    <p:sldId id="272" r:id="rId12"/>
    <p:sldId id="267" r:id="rId13"/>
    <p:sldId id="271" r:id="rId14"/>
    <p:sldId id="268" r:id="rId15"/>
    <p:sldId id="269"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70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3/4/2021</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3/4/2021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3/4/2021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pPr/>
              <a:t>3/4/2021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1D8BD707-D9CF-40AE-B4C6-C98DA3205C09}" type="datetimeFigureOut">
              <a:rPr lang="en-US" smtClean="0"/>
              <a:pPr/>
              <a:t>3/4/2021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3/4/2021</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3/4/2021</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internetlivestats.com/total-number-of-websites/" TargetMode="External"/><Relationship Id="rId2" Type="http://schemas.openxmlformats.org/officeDocument/2006/relationships/image" Target="../media/image5.jpe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hyperlink" Target="http://techcrunch.com/2011/03/30/the-history-of-internet-usage-and-speeds-infographic/"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alexloth.com/cern-the-worlds-first-website-went-online-20-years-ago-today/" TargetMode="External"/><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hyperlink" Target="https://ip-api.com/"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371600" y="457200"/>
            <a:ext cx="7467600" cy="1143000"/>
          </a:xfrm>
        </p:spPr>
        <p:txBody>
          <a:bodyPr/>
          <a:lstStyle/>
          <a:p>
            <a:r>
              <a:rPr lang="en-US" altLang="en-US" sz="6000">
                <a:latin typeface="Arial" charset="0"/>
              </a:rPr>
              <a:t>Web Technology</a:t>
            </a:r>
            <a:endParaRPr lang="en-US" altLang="en-US"/>
          </a:p>
        </p:txBody>
      </p:sp>
      <p:sp>
        <p:nvSpPr>
          <p:cNvPr id="3075" name="Rectangle 3"/>
          <p:cNvSpPr>
            <a:spLocks noGrp="1" noChangeArrowheads="1"/>
          </p:cNvSpPr>
          <p:nvPr>
            <p:ph type="subTitle" idx="1"/>
          </p:nvPr>
        </p:nvSpPr>
        <p:spPr>
          <a:xfrm>
            <a:off x="3276600" y="2286000"/>
            <a:ext cx="5257800" cy="685800"/>
          </a:xfrm>
        </p:spPr>
        <p:txBody>
          <a:bodyPr>
            <a:normAutofit fontScale="55000" lnSpcReduction="20000"/>
          </a:bodyPr>
          <a:lstStyle/>
          <a:p>
            <a:r>
              <a:rPr lang="en-US" altLang="en-US" sz="3600" dirty="0"/>
              <a:t>Part 1:  </a:t>
            </a:r>
          </a:p>
          <a:p>
            <a:r>
              <a:rPr lang="en-US" altLang="en-US" sz="3600" b="1" dirty="0">
                <a:solidFill>
                  <a:srgbClr val="003366"/>
                </a:solidFill>
              </a:rPr>
              <a:t>Introduction</a:t>
            </a:r>
            <a:endParaRPr kumimoji="0" lang="en-AU" altLang="en-US" sz="3600" b="1" dirty="0">
              <a:solidFill>
                <a:srgbClr val="CC0000"/>
              </a:solidFill>
            </a:endParaRPr>
          </a:p>
        </p:txBody>
      </p:sp>
    </p:spTree>
    <p:extLst>
      <p:ext uri="{BB962C8B-B14F-4D97-AF65-F5344CB8AC3E}">
        <p14:creationId xmlns:p14="http://schemas.microsoft.com/office/powerpoint/2010/main" val="4130025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algn="r"/>
            <a:r>
              <a:rPr lang="en-US" altLang="en-US">
                <a:latin typeface="Arial" charset="0"/>
              </a:rPr>
              <a:t>Local-Area Network 1</a:t>
            </a:r>
          </a:p>
        </p:txBody>
      </p:sp>
      <p:sp>
        <p:nvSpPr>
          <p:cNvPr id="110621" name="Text Box 29"/>
          <p:cNvSpPr txBox="1">
            <a:spLocks noChangeArrowheads="1"/>
          </p:cNvSpPr>
          <p:nvPr/>
        </p:nvSpPr>
        <p:spPr bwMode="auto">
          <a:xfrm>
            <a:off x="2667000" y="1247002"/>
            <a:ext cx="5638800" cy="2587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r>
              <a:rPr lang="en-US" altLang="en-US" dirty="0">
                <a:solidFill>
                  <a:srgbClr val="CC0000"/>
                </a:solidFill>
              </a:rPr>
              <a:t>Goal:</a:t>
            </a:r>
            <a:endParaRPr lang="en-US" altLang="en-US" dirty="0"/>
          </a:p>
          <a:p>
            <a:pPr lvl="1"/>
            <a:r>
              <a:rPr lang="en-US" altLang="en-US" dirty="0">
                <a:solidFill>
                  <a:srgbClr val="003366"/>
                </a:solidFill>
              </a:rPr>
              <a:t>to cover a small geographical area.</a:t>
            </a:r>
          </a:p>
          <a:p>
            <a:r>
              <a:rPr lang="en-US" altLang="en-US" dirty="0">
                <a:solidFill>
                  <a:srgbClr val="CC0000"/>
                </a:solidFill>
              </a:rPr>
              <a:t>Topologies:</a:t>
            </a:r>
          </a:p>
          <a:p>
            <a:pPr lvl="1">
              <a:buFontTx/>
              <a:buChar char="•"/>
            </a:pPr>
            <a:r>
              <a:rPr lang="en-US" altLang="en-US" dirty="0">
                <a:solidFill>
                  <a:srgbClr val="003366"/>
                </a:solidFill>
              </a:rPr>
              <a:t>multi-access bus, ring, star …</a:t>
            </a:r>
          </a:p>
          <a:p>
            <a:r>
              <a:rPr lang="en-US" altLang="en-US" dirty="0">
                <a:solidFill>
                  <a:srgbClr val="CC0000"/>
                </a:solidFill>
              </a:rPr>
              <a:t>Technologies:</a:t>
            </a:r>
          </a:p>
          <a:p>
            <a:pPr marL="742950" lvl="2" indent="-285750">
              <a:buFont typeface="Arial" panose="020B0604020202020204" pitchFamily="34" charset="0"/>
              <a:buChar char="•"/>
            </a:pPr>
            <a:r>
              <a:rPr lang="en-US" altLang="en-US" dirty="0">
                <a:solidFill>
                  <a:srgbClr val="003366"/>
                </a:solidFill>
              </a:rPr>
              <a:t>Ethernet – star + protocol (1980)</a:t>
            </a:r>
          </a:p>
          <a:p>
            <a:r>
              <a:rPr lang="en-US" altLang="en-US" dirty="0">
                <a:solidFill>
                  <a:srgbClr val="CC0000"/>
                </a:solidFill>
              </a:rPr>
              <a:t>Connectivity:</a:t>
            </a:r>
            <a:r>
              <a:rPr lang="en-US" altLang="en-US" dirty="0">
                <a:solidFill>
                  <a:srgbClr val="003366"/>
                </a:solidFill>
              </a:rPr>
              <a:t> </a:t>
            </a:r>
          </a:p>
          <a:p>
            <a:pPr lvl="1">
              <a:buFontTx/>
              <a:buChar char="•"/>
            </a:pPr>
            <a:r>
              <a:rPr lang="en-US" altLang="en-US" dirty="0">
                <a:solidFill>
                  <a:srgbClr val="003366"/>
                </a:solidFill>
              </a:rPr>
              <a:t>Cables, Wireless</a:t>
            </a:r>
          </a:p>
          <a:p>
            <a:pPr lvl="1">
              <a:buFontTx/>
              <a:buChar char="•"/>
            </a:pPr>
            <a:r>
              <a:rPr lang="en-US" altLang="en-US" dirty="0">
                <a:solidFill>
                  <a:srgbClr val="003366"/>
                </a:solidFill>
              </a:rPr>
              <a:t>Hub, access point</a:t>
            </a:r>
          </a:p>
        </p:txBody>
      </p:sp>
      <p:pic>
        <p:nvPicPr>
          <p:cNvPr id="13320" name="Picture 8" descr="https://upload.wikimedia.org/wikipedia/commons/thumb/9/97/NetworkTopologies.svg/508px-NetworkTopologies.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3956711"/>
            <a:ext cx="4991100" cy="2446426"/>
          </a:xfrm>
          <a:prstGeom prst="rect">
            <a:avLst/>
          </a:prstGeom>
          <a:noFill/>
          <a:extLst>
            <a:ext uri="{909E8E84-426E-40DD-AFC4-6F175D3DCCD1}">
              <a14:hiddenFill xmlns:a14="http://schemas.microsoft.com/office/drawing/2010/main">
                <a:solidFill>
                  <a:srgbClr val="FFFFFF"/>
                </a:solidFill>
              </a14:hiddenFill>
            </a:ext>
          </a:extLst>
        </p:spPr>
      </p:pic>
      <p:pic>
        <p:nvPicPr>
          <p:cNvPr id="13322" name="Picture 10" descr="The IEEE 802.11n standard represents an improvement over 802.11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838200"/>
            <a:ext cx="1447320" cy="2758741"/>
          </a:xfrm>
          <a:prstGeom prst="rect">
            <a:avLst/>
          </a:prstGeom>
          <a:noFill/>
          <a:extLst>
            <a:ext uri="{909E8E84-426E-40DD-AFC4-6F175D3DCCD1}">
              <a14:hiddenFill xmlns:a14="http://schemas.microsoft.com/office/drawing/2010/main">
                <a:solidFill>
                  <a:srgbClr val="FFFFFF"/>
                </a:solidFill>
              </a14:hiddenFill>
            </a:ext>
          </a:extLst>
        </p:spPr>
      </p:pic>
      <p:pic>
        <p:nvPicPr>
          <p:cNvPr id="13324" name="Picture 12" descr="Most routers connect to both a LAN and a WA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5976" y="3733800"/>
            <a:ext cx="1469571" cy="220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8646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lgn="r"/>
            <a:r>
              <a:rPr lang="en-US" altLang="en-US">
                <a:latin typeface="Arial" charset="0"/>
              </a:rPr>
              <a:t>Local-Area Network 2</a:t>
            </a:r>
          </a:p>
        </p:txBody>
      </p:sp>
      <p:sp>
        <p:nvSpPr>
          <p:cNvPr id="109584" name="AutoShape 16"/>
          <p:cNvSpPr>
            <a:spLocks noChangeArrowheads="1"/>
          </p:cNvSpPr>
          <p:nvPr/>
        </p:nvSpPr>
        <p:spPr bwMode="auto">
          <a:xfrm>
            <a:off x="6400800" y="5757863"/>
            <a:ext cx="762000" cy="838200"/>
          </a:xfrm>
          <a:prstGeom prst="cube">
            <a:avLst>
              <a:gd name="adj" fmla="val 25000"/>
            </a:avLst>
          </a:prstGeom>
          <a:solidFill>
            <a:schemeClr val="accent1"/>
          </a:solidFill>
          <a:ln w="12700">
            <a:solidFill>
              <a:srgbClr val="0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09586" name="AutoShape 18"/>
          <p:cNvSpPr>
            <a:spLocks noChangeArrowheads="1"/>
          </p:cNvSpPr>
          <p:nvPr/>
        </p:nvSpPr>
        <p:spPr bwMode="auto">
          <a:xfrm>
            <a:off x="4572000" y="5757863"/>
            <a:ext cx="762000" cy="838200"/>
          </a:xfrm>
          <a:prstGeom prst="cube">
            <a:avLst>
              <a:gd name="adj" fmla="val 25000"/>
            </a:avLst>
          </a:prstGeom>
          <a:solidFill>
            <a:schemeClr val="accent1"/>
          </a:solidFill>
          <a:ln w="12700">
            <a:solidFill>
              <a:srgbClr val="0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09587" name="AutoShape 19"/>
          <p:cNvSpPr>
            <a:spLocks noChangeArrowheads="1"/>
          </p:cNvSpPr>
          <p:nvPr/>
        </p:nvSpPr>
        <p:spPr bwMode="auto">
          <a:xfrm>
            <a:off x="3657600" y="5757863"/>
            <a:ext cx="762000" cy="838200"/>
          </a:xfrm>
          <a:prstGeom prst="cube">
            <a:avLst>
              <a:gd name="adj" fmla="val 25000"/>
            </a:avLst>
          </a:prstGeom>
          <a:solidFill>
            <a:schemeClr val="accent1"/>
          </a:solidFill>
          <a:ln w="12700">
            <a:solidFill>
              <a:srgbClr val="0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09589" name="AutoShape 21"/>
          <p:cNvSpPr>
            <a:spLocks noChangeArrowheads="1"/>
          </p:cNvSpPr>
          <p:nvPr/>
        </p:nvSpPr>
        <p:spPr bwMode="auto">
          <a:xfrm>
            <a:off x="5486400" y="5757863"/>
            <a:ext cx="762000" cy="838200"/>
          </a:xfrm>
          <a:prstGeom prst="cube">
            <a:avLst>
              <a:gd name="adj" fmla="val 25000"/>
            </a:avLst>
          </a:prstGeom>
          <a:solidFill>
            <a:schemeClr val="accent1"/>
          </a:solidFill>
          <a:ln w="12700">
            <a:solidFill>
              <a:srgbClr val="0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09590" name="Rectangle 22"/>
          <p:cNvSpPr>
            <a:spLocks noChangeArrowheads="1"/>
          </p:cNvSpPr>
          <p:nvPr/>
        </p:nvSpPr>
        <p:spPr bwMode="auto">
          <a:xfrm>
            <a:off x="3657600" y="4572000"/>
            <a:ext cx="3733800" cy="381000"/>
          </a:xfrm>
          <a:prstGeom prst="rect">
            <a:avLst/>
          </a:prstGeom>
          <a:solidFill>
            <a:schemeClr val="hlink"/>
          </a:solidFill>
          <a:ln w="9525">
            <a:solidFill>
              <a:schemeClr val="tx1"/>
            </a:solidFill>
            <a:miter lim="800000"/>
            <a:headEnd/>
            <a:tailEnd/>
          </a:ln>
          <a:effectLst>
            <a:outerShdw dist="107763" dir="2700000" algn="ctr" rotWithShape="0">
              <a:schemeClr val="bg2"/>
            </a:outerShdw>
          </a:effectLst>
        </p:spPr>
        <p:txBody>
          <a:bodyPr wrap="none" anchor="ctr"/>
          <a:lstStyle/>
          <a:p>
            <a:pPr algn="ctr"/>
            <a:r>
              <a:rPr lang="en-US" altLang="en-US">
                <a:solidFill>
                  <a:srgbClr val="003366"/>
                </a:solidFill>
                <a:latin typeface="Arial" charset="0"/>
              </a:rPr>
              <a:t>LAN 1</a:t>
            </a:r>
            <a:endParaRPr lang="en-US" altLang="en-US">
              <a:solidFill>
                <a:schemeClr val="accent2"/>
              </a:solidFill>
              <a:latin typeface="Arial" charset="0"/>
            </a:endParaRPr>
          </a:p>
        </p:txBody>
      </p:sp>
      <p:sp>
        <p:nvSpPr>
          <p:cNvPr id="109588" name="Line 20"/>
          <p:cNvSpPr>
            <a:spLocks noChangeShapeType="1"/>
          </p:cNvSpPr>
          <p:nvPr/>
        </p:nvSpPr>
        <p:spPr bwMode="auto">
          <a:xfrm>
            <a:off x="6781800" y="5105400"/>
            <a:ext cx="0" cy="76200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09591" name="Line 23"/>
          <p:cNvSpPr>
            <a:spLocks noChangeShapeType="1"/>
          </p:cNvSpPr>
          <p:nvPr/>
        </p:nvSpPr>
        <p:spPr bwMode="auto">
          <a:xfrm>
            <a:off x="5867400" y="5105400"/>
            <a:ext cx="0" cy="76200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09592" name="Line 24"/>
          <p:cNvSpPr>
            <a:spLocks noChangeShapeType="1"/>
          </p:cNvSpPr>
          <p:nvPr/>
        </p:nvSpPr>
        <p:spPr bwMode="auto">
          <a:xfrm>
            <a:off x="4953000" y="5105400"/>
            <a:ext cx="0" cy="76200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09593" name="Line 25"/>
          <p:cNvSpPr>
            <a:spLocks noChangeShapeType="1"/>
          </p:cNvSpPr>
          <p:nvPr/>
        </p:nvSpPr>
        <p:spPr bwMode="auto">
          <a:xfrm>
            <a:off x="4038600" y="5105400"/>
            <a:ext cx="0" cy="76200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09594" name="Rectangle 26"/>
          <p:cNvSpPr>
            <a:spLocks noChangeArrowheads="1"/>
          </p:cNvSpPr>
          <p:nvPr/>
        </p:nvSpPr>
        <p:spPr bwMode="auto">
          <a:xfrm>
            <a:off x="457200" y="2362200"/>
            <a:ext cx="3733800" cy="381000"/>
          </a:xfrm>
          <a:prstGeom prst="rect">
            <a:avLst/>
          </a:prstGeom>
          <a:solidFill>
            <a:schemeClr val="hlink"/>
          </a:solidFill>
          <a:ln w="9525">
            <a:solidFill>
              <a:schemeClr val="tx1"/>
            </a:solidFill>
            <a:miter lim="800000"/>
            <a:headEnd/>
            <a:tailEnd/>
          </a:ln>
          <a:effectLst>
            <a:outerShdw dist="107763" dir="2700000" algn="ctr" rotWithShape="0">
              <a:schemeClr val="bg2"/>
            </a:outerShdw>
          </a:effectLst>
        </p:spPr>
        <p:txBody>
          <a:bodyPr wrap="none" anchor="ctr"/>
          <a:lstStyle/>
          <a:p>
            <a:pPr algn="ctr"/>
            <a:r>
              <a:rPr lang="en-US" altLang="en-US">
                <a:solidFill>
                  <a:srgbClr val="003366"/>
                </a:solidFill>
                <a:latin typeface="Arial" charset="0"/>
              </a:rPr>
              <a:t>LAN 2</a:t>
            </a:r>
            <a:endParaRPr lang="en-US" altLang="en-US">
              <a:solidFill>
                <a:schemeClr val="accent2"/>
              </a:solidFill>
              <a:latin typeface="Arial" charset="0"/>
            </a:endParaRPr>
          </a:p>
        </p:txBody>
      </p:sp>
      <p:sp>
        <p:nvSpPr>
          <p:cNvPr id="109595" name="AutoShape 27"/>
          <p:cNvSpPr>
            <a:spLocks noChangeArrowheads="1"/>
          </p:cNvSpPr>
          <p:nvPr/>
        </p:nvSpPr>
        <p:spPr bwMode="auto">
          <a:xfrm>
            <a:off x="3352800" y="3505200"/>
            <a:ext cx="762000" cy="838200"/>
          </a:xfrm>
          <a:prstGeom prst="cube">
            <a:avLst>
              <a:gd name="adj" fmla="val 25000"/>
            </a:avLst>
          </a:prstGeom>
          <a:solidFill>
            <a:schemeClr val="accent1"/>
          </a:solidFill>
          <a:ln w="12700">
            <a:solidFill>
              <a:srgbClr val="0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09596" name="AutoShape 28"/>
          <p:cNvSpPr>
            <a:spLocks noChangeArrowheads="1"/>
          </p:cNvSpPr>
          <p:nvPr/>
        </p:nvSpPr>
        <p:spPr bwMode="auto">
          <a:xfrm>
            <a:off x="1524000" y="3505200"/>
            <a:ext cx="762000" cy="838200"/>
          </a:xfrm>
          <a:prstGeom prst="cube">
            <a:avLst>
              <a:gd name="adj" fmla="val 25000"/>
            </a:avLst>
          </a:prstGeom>
          <a:solidFill>
            <a:schemeClr val="accent1"/>
          </a:solidFill>
          <a:ln w="12700">
            <a:solidFill>
              <a:srgbClr val="0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09597" name="AutoShape 29"/>
          <p:cNvSpPr>
            <a:spLocks noChangeArrowheads="1"/>
          </p:cNvSpPr>
          <p:nvPr/>
        </p:nvSpPr>
        <p:spPr bwMode="auto">
          <a:xfrm>
            <a:off x="609600" y="3505200"/>
            <a:ext cx="762000" cy="838200"/>
          </a:xfrm>
          <a:prstGeom prst="cube">
            <a:avLst>
              <a:gd name="adj" fmla="val 25000"/>
            </a:avLst>
          </a:prstGeom>
          <a:solidFill>
            <a:schemeClr val="accent1"/>
          </a:solidFill>
          <a:ln w="12700">
            <a:solidFill>
              <a:srgbClr val="0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09598" name="AutoShape 30"/>
          <p:cNvSpPr>
            <a:spLocks noChangeArrowheads="1"/>
          </p:cNvSpPr>
          <p:nvPr/>
        </p:nvSpPr>
        <p:spPr bwMode="auto">
          <a:xfrm>
            <a:off x="2438400" y="3505200"/>
            <a:ext cx="762000" cy="838200"/>
          </a:xfrm>
          <a:prstGeom prst="cube">
            <a:avLst>
              <a:gd name="adj" fmla="val 25000"/>
            </a:avLst>
          </a:prstGeom>
          <a:solidFill>
            <a:schemeClr val="accent1"/>
          </a:solidFill>
          <a:ln w="12700">
            <a:solidFill>
              <a:srgbClr val="0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09599" name="Line 31"/>
          <p:cNvSpPr>
            <a:spLocks noChangeShapeType="1"/>
          </p:cNvSpPr>
          <p:nvPr/>
        </p:nvSpPr>
        <p:spPr bwMode="auto">
          <a:xfrm>
            <a:off x="3657600" y="2895600"/>
            <a:ext cx="0" cy="76200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09600" name="Line 32"/>
          <p:cNvSpPr>
            <a:spLocks noChangeShapeType="1"/>
          </p:cNvSpPr>
          <p:nvPr/>
        </p:nvSpPr>
        <p:spPr bwMode="auto">
          <a:xfrm>
            <a:off x="2743200" y="2895600"/>
            <a:ext cx="0" cy="76200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09601" name="Line 33"/>
          <p:cNvSpPr>
            <a:spLocks noChangeShapeType="1"/>
          </p:cNvSpPr>
          <p:nvPr/>
        </p:nvSpPr>
        <p:spPr bwMode="auto">
          <a:xfrm>
            <a:off x="1828800" y="2895600"/>
            <a:ext cx="0" cy="76200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09602" name="Line 34"/>
          <p:cNvSpPr>
            <a:spLocks noChangeShapeType="1"/>
          </p:cNvSpPr>
          <p:nvPr/>
        </p:nvSpPr>
        <p:spPr bwMode="auto">
          <a:xfrm>
            <a:off x="914400" y="2895600"/>
            <a:ext cx="0" cy="76200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09603" name="Oval 35"/>
          <p:cNvSpPr>
            <a:spLocks noChangeArrowheads="1"/>
          </p:cNvSpPr>
          <p:nvPr/>
        </p:nvSpPr>
        <p:spPr bwMode="auto">
          <a:xfrm>
            <a:off x="7010400" y="2362200"/>
            <a:ext cx="685800" cy="685800"/>
          </a:xfrm>
          <a:prstGeom prst="ellipse">
            <a:avLst/>
          </a:prstGeom>
          <a:solidFill>
            <a:schemeClr val="hlink"/>
          </a:solidFill>
          <a:ln w="12700">
            <a:solidFill>
              <a:schemeClr val="accent2"/>
            </a:solidFill>
            <a:round/>
            <a:headEnd/>
            <a:tailEnd/>
          </a:ln>
          <a:effectLst>
            <a:outerShdw dist="107763" dir="2700000" algn="ctr" rotWithShape="0">
              <a:schemeClr val="bg2"/>
            </a:outerShdw>
          </a:effectLst>
        </p:spPr>
        <p:txBody>
          <a:bodyPr wrap="none" lIns="90000" tIns="46800" rIns="90000" bIns="46800" anchor="ctr"/>
          <a:lstStyle/>
          <a:p>
            <a:endParaRPr lang="en-GB"/>
          </a:p>
        </p:txBody>
      </p:sp>
      <p:sp>
        <p:nvSpPr>
          <p:cNvPr id="109604" name="Oval 36"/>
          <p:cNvSpPr>
            <a:spLocks noChangeArrowheads="1"/>
          </p:cNvSpPr>
          <p:nvPr/>
        </p:nvSpPr>
        <p:spPr bwMode="auto">
          <a:xfrm>
            <a:off x="4953000" y="2286000"/>
            <a:ext cx="685800" cy="685800"/>
          </a:xfrm>
          <a:prstGeom prst="ellipse">
            <a:avLst/>
          </a:prstGeom>
          <a:solidFill>
            <a:schemeClr val="hlink"/>
          </a:solidFill>
          <a:ln w="12700">
            <a:solidFill>
              <a:schemeClr val="accent2"/>
            </a:solidFill>
            <a:round/>
            <a:headEnd/>
            <a:tailEnd/>
          </a:ln>
          <a:effectLst>
            <a:outerShdw dist="107763" dir="2700000" algn="ctr" rotWithShape="0">
              <a:schemeClr val="bg2"/>
            </a:outerShdw>
          </a:effectLst>
        </p:spPr>
        <p:txBody>
          <a:bodyPr wrap="none" lIns="90000" tIns="46800" rIns="90000" bIns="46800" anchor="ctr"/>
          <a:lstStyle/>
          <a:p>
            <a:endParaRPr lang="en-GB"/>
          </a:p>
        </p:txBody>
      </p:sp>
      <p:sp>
        <p:nvSpPr>
          <p:cNvPr id="109605" name="Line 37"/>
          <p:cNvSpPr>
            <a:spLocks noChangeShapeType="1"/>
          </p:cNvSpPr>
          <p:nvPr/>
        </p:nvSpPr>
        <p:spPr bwMode="auto">
          <a:xfrm>
            <a:off x="7315200" y="3124200"/>
            <a:ext cx="0" cy="144780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09606" name="Line 38"/>
          <p:cNvSpPr>
            <a:spLocks noChangeShapeType="1"/>
          </p:cNvSpPr>
          <p:nvPr/>
        </p:nvSpPr>
        <p:spPr bwMode="auto">
          <a:xfrm flipH="1">
            <a:off x="4343400" y="2667000"/>
            <a:ext cx="609600" cy="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09607" name="AutoShape 39"/>
          <p:cNvSpPr>
            <a:spLocks noChangeArrowheads="1"/>
          </p:cNvSpPr>
          <p:nvPr/>
        </p:nvSpPr>
        <p:spPr bwMode="auto">
          <a:xfrm>
            <a:off x="5715000" y="2514600"/>
            <a:ext cx="1295400" cy="381000"/>
          </a:xfrm>
          <a:prstGeom prst="leftRightArrow">
            <a:avLst>
              <a:gd name="adj1" fmla="val 50000"/>
              <a:gd name="adj2" fmla="val 68000"/>
            </a:avLst>
          </a:prstGeom>
          <a:solidFill>
            <a:schemeClr val="hlink">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9608" name="Text Box 40"/>
          <p:cNvSpPr txBox="1">
            <a:spLocks noChangeArrowheads="1"/>
          </p:cNvSpPr>
          <p:nvPr/>
        </p:nvSpPr>
        <p:spPr bwMode="auto">
          <a:xfrm>
            <a:off x="5791200" y="3048000"/>
            <a:ext cx="12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CC0000"/>
                </a:solidFill>
              </a:rPr>
              <a:t>gateway</a:t>
            </a:r>
            <a:endParaRPr lang="en-US" altLang="en-US"/>
          </a:p>
        </p:txBody>
      </p:sp>
    </p:spTree>
    <p:extLst>
      <p:ext uri="{BB962C8B-B14F-4D97-AF65-F5344CB8AC3E}">
        <p14:creationId xmlns:p14="http://schemas.microsoft.com/office/powerpoint/2010/main" val="3975502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hart: How Many Websites Are There? | Statista">
            <a:extLst>
              <a:ext uri="{FF2B5EF4-FFF2-40B4-BE49-F238E27FC236}">
                <a16:creationId xmlns:a16="http://schemas.microsoft.com/office/drawing/2014/main" id="{BB5A3914-8BE2-4D2C-B724-626B7407B9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0855" y="3040083"/>
            <a:ext cx="4554232" cy="3244891"/>
          </a:xfrm>
          <a:prstGeom prst="rect">
            <a:avLst/>
          </a:prstGeom>
          <a:noFill/>
          <a:extLst>
            <a:ext uri="{909E8E84-426E-40DD-AFC4-6F175D3DCCD1}">
              <a14:hiddenFill xmlns:a14="http://schemas.microsoft.com/office/drawing/2010/main">
                <a:solidFill>
                  <a:srgbClr val="FFFFFF"/>
                </a:solidFill>
              </a14:hiddenFill>
            </a:ext>
          </a:extLst>
        </p:spPr>
      </p:pic>
      <p:sp>
        <p:nvSpPr>
          <p:cNvPr id="111618" name="Rectangle 2"/>
          <p:cNvSpPr>
            <a:spLocks noGrp="1" noChangeArrowheads="1"/>
          </p:cNvSpPr>
          <p:nvPr>
            <p:ph type="title"/>
          </p:nvPr>
        </p:nvSpPr>
        <p:spPr/>
        <p:txBody>
          <a:bodyPr/>
          <a:lstStyle/>
          <a:p>
            <a:pPr algn="r"/>
            <a:r>
              <a:rPr lang="en-US" altLang="en-US" dirty="0">
                <a:latin typeface="Arial" charset="0"/>
              </a:rPr>
              <a:t>Wide-Area Network 1</a:t>
            </a:r>
          </a:p>
        </p:txBody>
      </p:sp>
      <p:sp>
        <p:nvSpPr>
          <p:cNvPr id="111620" name="Text Box 4"/>
          <p:cNvSpPr txBox="1">
            <a:spLocks noChangeArrowheads="1"/>
          </p:cNvSpPr>
          <p:nvPr/>
        </p:nvSpPr>
        <p:spPr bwMode="auto">
          <a:xfrm>
            <a:off x="597108" y="1447800"/>
            <a:ext cx="8153400" cy="1479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r>
              <a:rPr lang="en-US" altLang="en-US" dirty="0">
                <a:solidFill>
                  <a:srgbClr val="CC0000"/>
                </a:solidFill>
              </a:rPr>
              <a:t>WAN </a:t>
            </a:r>
            <a:r>
              <a:rPr lang="en-US" altLang="en-US" dirty="0">
                <a:solidFill>
                  <a:srgbClr val="003366"/>
                </a:solidFill>
              </a:rPr>
              <a:t>emerged in the late 1960 as an academic research project.</a:t>
            </a:r>
          </a:p>
          <a:p>
            <a:r>
              <a:rPr lang="en-US" altLang="en-US" dirty="0">
                <a:solidFill>
                  <a:srgbClr val="CC0000"/>
                </a:solidFill>
              </a:rPr>
              <a:t>Evolution</a:t>
            </a:r>
            <a:r>
              <a:rPr lang="en-US" altLang="en-US" dirty="0">
                <a:solidFill>
                  <a:srgbClr val="003366"/>
                </a:solidFill>
              </a:rPr>
              <a:t> - from 4 sites (Arpanet, 1968) to World Wide Web (3.2 B users, 1.8 B web sites in </a:t>
            </a:r>
            <a:r>
              <a:rPr lang="en-GB" altLang="en-US" dirty="0">
                <a:solidFill>
                  <a:srgbClr val="003366"/>
                </a:solidFill>
              </a:rPr>
              <a:t>2020</a:t>
            </a:r>
            <a:r>
              <a:rPr lang="en-US" altLang="en-US" dirty="0">
                <a:solidFill>
                  <a:srgbClr val="003366"/>
                </a:solidFill>
              </a:rPr>
              <a:t>).</a:t>
            </a:r>
            <a:endParaRPr lang="en-US" altLang="en-US" dirty="0">
              <a:solidFill>
                <a:srgbClr val="CC0000"/>
              </a:solidFill>
            </a:endParaRPr>
          </a:p>
          <a:p>
            <a:r>
              <a:rPr lang="en-US" altLang="en-US" dirty="0">
                <a:solidFill>
                  <a:srgbClr val="CC0000"/>
                </a:solidFill>
              </a:rPr>
              <a:t>Communication speeds</a:t>
            </a:r>
            <a:r>
              <a:rPr lang="en-US" altLang="en-US" dirty="0">
                <a:solidFill>
                  <a:srgbClr val="003366"/>
                </a:solidFill>
              </a:rPr>
              <a:t> - from 1200 bits/s to more then 1000 Mbit/s.</a:t>
            </a:r>
          </a:p>
          <a:p>
            <a:r>
              <a:rPr lang="en-US" altLang="en-US" dirty="0">
                <a:solidFill>
                  <a:srgbClr val="CC0000"/>
                </a:solidFill>
              </a:rPr>
              <a:t>Structure </a:t>
            </a:r>
            <a:r>
              <a:rPr lang="en-US" altLang="en-US" dirty="0">
                <a:solidFill>
                  <a:srgbClr val="003366"/>
                </a:solidFill>
              </a:rPr>
              <a:t>- Network of networks.</a:t>
            </a:r>
          </a:p>
        </p:txBody>
      </p:sp>
      <p:sp>
        <p:nvSpPr>
          <p:cNvPr id="2" name="Rectangle 1"/>
          <p:cNvSpPr/>
          <p:nvPr/>
        </p:nvSpPr>
        <p:spPr>
          <a:xfrm>
            <a:off x="381000" y="6299284"/>
            <a:ext cx="4572000" cy="261610"/>
          </a:xfrm>
          <a:prstGeom prst="rect">
            <a:avLst/>
          </a:prstGeom>
        </p:spPr>
        <p:txBody>
          <a:bodyPr>
            <a:spAutoFit/>
          </a:bodyPr>
          <a:lstStyle/>
          <a:p>
            <a:r>
              <a:rPr lang="en-GB" sz="1100" dirty="0">
                <a:hlinkClick r:id="rId3"/>
              </a:rPr>
              <a:t>http://www.internetlivestats.com/total-number-of-websites/</a:t>
            </a:r>
            <a:endParaRPr lang="en-GB" sz="1100" dirty="0"/>
          </a:p>
        </p:txBody>
      </p:sp>
      <p:sp>
        <p:nvSpPr>
          <p:cNvPr id="4" name="Rectangle 3"/>
          <p:cNvSpPr/>
          <p:nvPr/>
        </p:nvSpPr>
        <p:spPr>
          <a:xfrm>
            <a:off x="381000" y="6527884"/>
            <a:ext cx="7620000" cy="253916"/>
          </a:xfrm>
          <a:prstGeom prst="rect">
            <a:avLst/>
          </a:prstGeom>
        </p:spPr>
        <p:txBody>
          <a:bodyPr wrap="square">
            <a:spAutoFit/>
          </a:bodyPr>
          <a:lstStyle/>
          <a:p>
            <a:pPr algn="just"/>
            <a:r>
              <a:rPr lang="en-GB" sz="1050" dirty="0">
                <a:hlinkClick r:id="rId4"/>
              </a:rPr>
              <a:t>http://techcrunch.com/2011/03/30/the-history-of-internet-usage-and-speeds-infographic/</a:t>
            </a:r>
            <a:endParaRPr lang="en-GB" sz="1050" dirty="0"/>
          </a:p>
        </p:txBody>
      </p:sp>
      <p:pic>
        <p:nvPicPr>
          <p:cNvPr id="1026" name="Picture 2" descr="Top 20 Countries By Number of Internet users 1991 to 2020 | Currentstats -  YouTube">
            <a:extLst>
              <a:ext uri="{FF2B5EF4-FFF2-40B4-BE49-F238E27FC236}">
                <a16:creationId xmlns:a16="http://schemas.microsoft.com/office/drawing/2014/main" id="{5D473AB6-BAC6-471F-A2AD-9FC095E12AA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4800" y="3337613"/>
            <a:ext cx="4090999" cy="2301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5626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algn="r"/>
            <a:r>
              <a:rPr lang="en-US" altLang="en-US" dirty="0">
                <a:latin typeface="Arial" charset="0"/>
              </a:rPr>
              <a:t>First Web Site</a:t>
            </a:r>
          </a:p>
        </p:txBody>
      </p:sp>
      <p:pic>
        <p:nvPicPr>
          <p:cNvPr id="8" name="Picture 2" descr="CERN website dispayed in Line Mode Browser ">
            <a:extLst>
              <a:ext uri="{FF2B5EF4-FFF2-40B4-BE49-F238E27FC236}">
                <a16:creationId xmlns:a16="http://schemas.microsoft.com/office/drawing/2014/main" id="{CCB482D5-5EF2-4DAF-9D59-8774D56383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8169" y="2034883"/>
            <a:ext cx="5067300" cy="275272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5BAC939-A8AC-4719-80CD-695AEC6BA845}"/>
              </a:ext>
            </a:extLst>
          </p:cNvPr>
          <p:cNvSpPr txBox="1"/>
          <p:nvPr/>
        </p:nvSpPr>
        <p:spPr>
          <a:xfrm>
            <a:off x="2133600" y="4823117"/>
            <a:ext cx="4576438" cy="923330"/>
          </a:xfrm>
          <a:prstGeom prst="rect">
            <a:avLst/>
          </a:prstGeom>
          <a:noFill/>
        </p:spPr>
        <p:txBody>
          <a:bodyPr wrap="square">
            <a:spAutoFit/>
          </a:bodyPr>
          <a:lstStyle/>
          <a:p>
            <a:r>
              <a:rPr lang="en-US" b="0" i="0" dirty="0">
                <a:solidFill>
                  <a:srgbClr val="1A1A4A"/>
                </a:solidFill>
                <a:effectLst/>
                <a:latin typeface="Merriweather"/>
              </a:rPr>
              <a:t>The website, created by Tim Berners-Lee at CERN, was a basic text page with hyperlinks and went live on August 6, 1991.</a:t>
            </a:r>
            <a:endParaRPr lang="en-US" dirty="0"/>
          </a:p>
        </p:txBody>
      </p:sp>
      <p:sp>
        <p:nvSpPr>
          <p:cNvPr id="12" name="TextBox 11">
            <a:extLst>
              <a:ext uri="{FF2B5EF4-FFF2-40B4-BE49-F238E27FC236}">
                <a16:creationId xmlns:a16="http://schemas.microsoft.com/office/drawing/2014/main" id="{F55FC93D-C55F-45E1-BA92-1FB71B0AD190}"/>
              </a:ext>
            </a:extLst>
          </p:cNvPr>
          <p:cNvSpPr txBox="1"/>
          <p:nvPr/>
        </p:nvSpPr>
        <p:spPr>
          <a:xfrm>
            <a:off x="2713515" y="6096000"/>
            <a:ext cx="6041069" cy="230832"/>
          </a:xfrm>
          <a:prstGeom prst="rect">
            <a:avLst/>
          </a:prstGeom>
          <a:noFill/>
        </p:spPr>
        <p:txBody>
          <a:bodyPr wrap="square">
            <a:spAutoFit/>
          </a:bodyPr>
          <a:lstStyle/>
          <a:p>
            <a:r>
              <a:rPr lang="en-US" sz="900" dirty="0">
                <a:hlinkClick r:id="rId3"/>
              </a:rPr>
              <a:t>https://alexloth.com/cern-the-worlds-first-website-went-online-20-years-ago-today/</a:t>
            </a:r>
            <a:endParaRPr lang="en-US" sz="900" dirty="0"/>
          </a:p>
        </p:txBody>
      </p:sp>
    </p:spTree>
    <p:extLst>
      <p:ext uri="{BB962C8B-B14F-4D97-AF65-F5344CB8AC3E}">
        <p14:creationId xmlns:p14="http://schemas.microsoft.com/office/powerpoint/2010/main" val="3265043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algn="r"/>
            <a:r>
              <a:rPr lang="en-US" altLang="en-US" dirty="0">
                <a:latin typeface="Arial" charset="0"/>
              </a:rPr>
              <a:t>Wide-Area Network 2</a:t>
            </a:r>
          </a:p>
        </p:txBody>
      </p:sp>
      <p:pic>
        <p:nvPicPr>
          <p:cNvPr id="9" name="Picture 2">
            <a:extLst>
              <a:ext uri="{FF2B5EF4-FFF2-40B4-BE49-F238E27FC236}">
                <a16:creationId xmlns:a16="http://schemas.microsoft.com/office/drawing/2014/main" id="{BC53216F-10A7-4A00-B12A-748509653976}"/>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457200" y="1676400"/>
            <a:ext cx="2819400" cy="2179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a:extLst>
              <a:ext uri="{FF2B5EF4-FFF2-40B4-BE49-F238E27FC236}">
                <a16:creationId xmlns:a16="http://schemas.microsoft.com/office/drawing/2014/main" id="{41F9BDBD-F539-46D9-98DA-D2524CA27F34}"/>
              </a:ext>
            </a:extLst>
          </p:cNvPr>
          <p:cNvSpPr txBox="1"/>
          <p:nvPr/>
        </p:nvSpPr>
        <p:spPr>
          <a:xfrm>
            <a:off x="3733783" y="2273753"/>
            <a:ext cx="4941920" cy="1015663"/>
          </a:xfrm>
          <a:prstGeom prst="rect">
            <a:avLst/>
          </a:prstGeom>
          <a:noFill/>
        </p:spPr>
        <p:txBody>
          <a:bodyPr wrap="square" rtlCol="0">
            <a:spAutoFit/>
          </a:bodyPr>
          <a:lstStyle/>
          <a:p>
            <a:pPr marL="285750" indent="-285750">
              <a:buFont typeface="Arial" panose="020B0604020202020204" pitchFamily="34" charset="0"/>
              <a:buChar char="•"/>
            </a:pPr>
            <a:r>
              <a:rPr lang="en-US" sz="2000" b="0" i="0" dirty="0">
                <a:solidFill>
                  <a:srgbClr val="202124"/>
                </a:solidFill>
                <a:effectLst/>
                <a:latin typeface="arial" panose="020B0604020202020204" pitchFamily="34" charset="0"/>
              </a:rPr>
              <a:t>5.6 billion </a:t>
            </a:r>
            <a:r>
              <a:rPr lang="en-US" sz="2000" b="1" i="0" dirty="0">
                <a:solidFill>
                  <a:srgbClr val="202124"/>
                </a:solidFill>
                <a:effectLst/>
                <a:latin typeface="arial" panose="020B0604020202020204" pitchFamily="34" charset="0"/>
              </a:rPr>
              <a:t>searches per day</a:t>
            </a:r>
            <a:endParaRPr lang="en-US" sz="2000" dirty="0"/>
          </a:p>
          <a:p>
            <a:pPr marL="285750" indent="-285750">
              <a:buFont typeface="Arial" panose="020B0604020202020204" pitchFamily="34" charset="0"/>
              <a:buChar char="•"/>
            </a:pPr>
            <a:r>
              <a:rPr lang="en-US" sz="2000" dirty="0"/>
              <a:t>More than 2,500,000 servers worldwide </a:t>
            </a:r>
          </a:p>
        </p:txBody>
      </p:sp>
      <p:pic>
        <p:nvPicPr>
          <p:cNvPr id="10" name="Picture 9">
            <a:extLst>
              <a:ext uri="{FF2B5EF4-FFF2-40B4-BE49-F238E27FC236}">
                <a16:creationId xmlns:a16="http://schemas.microsoft.com/office/drawing/2014/main" id="{977DDAB0-9889-4146-9F3F-4311AD9A4C69}"/>
              </a:ext>
            </a:extLst>
          </p:cNvPr>
          <p:cNvPicPr>
            <a:picLocks noChangeAspect="1"/>
          </p:cNvPicPr>
          <p:nvPr/>
        </p:nvPicPr>
        <p:blipFill>
          <a:blip r:embed="rId3"/>
          <a:stretch>
            <a:fillRect/>
          </a:stretch>
        </p:blipFill>
        <p:spPr>
          <a:xfrm>
            <a:off x="2582894" y="3517106"/>
            <a:ext cx="6262688" cy="2690736"/>
          </a:xfrm>
          <a:prstGeom prst="rect">
            <a:avLst/>
          </a:prstGeom>
        </p:spPr>
      </p:pic>
      <p:pic>
        <p:nvPicPr>
          <p:cNvPr id="6" name="Picture 5">
            <a:extLst>
              <a:ext uri="{FF2B5EF4-FFF2-40B4-BE49-F238E27FC236}">
                <a16:creationId xmlns:a16="http://schemas.microsoft.com/office/drawing/2014/main" id="{544CB57A-4036-43D8-87AA-030103C675FC}"/>
              </a:ext>
            </a:extLst>
          </p:cNvPr>
          <p:cNvPicPr>
            <a:picLocks noChangeAspect="1"/>
          </p:cNvPicPr>
          <p:nvPr/>
        </p:nvPicPr>
        <p:blipFill>
          <a:blip r:embed="rId4"/>
          <a:stretch>
            <a:fillRect/>
          </a:stretch>
        </p:blipFill>
        <p:spPr>
          <a:xfrm>
            <a:off x="5181600" y="5571041"/>
            <a:ext cx="3797423" cy="1058359"/>
          </a:xfrm>
          <a:prstGeom prst="rect">
            <a:avLst/>
          </a:prstGeom>
        </p:spPr>
      </p:pic>
      <p:sp>
        <p:nvSpPr>
          <p:cNvPr id="11" name="TextBox 10">
            <a:extLst>
              <a:ext uri="{FF2B5EF4-FFF2-40B4-BE49-F238E27FC236}">
                <a16:creationId xmlns:a16="http://schemas.microsoft.com/office/drawing/2014/main" id="{11B21EA2-A239-45CE-BF85-896F01C4022E}"/>
              </a:ext>
            </a:extLst>
          </p:cNvPr>
          <p:cNvSpPr txBox="1"/>
          <p:nvPr/>
        </p:nvSpPr>
        <p:spPr>
          <a:xfrm>
            <a:off x="3733783" y="1600200"/>
            <a:ext cx="1614545" cy="769441"/>
          </a:xfrm>
          <a:prstGeom prst="rect">
            <a:avLst/>
          </a:prstGeom>
          <a:noFill/>
        </p:spPr>
        <p:txBody>
          <a:bodyPr wrap="none" rtlCol="0">
            <a:spAutoFit/>
          </a:bodyPr>
          <a:lstStyle/>
          <a:p>
            <a:r>
              <a:rPr lang="en-US" sz="4400" b="1" dirty="0">
                <a:solidFill>
                  <a:schemeClr val="accent2"/>
                </a:solidFill>
              </a:rPr>
              <a:t>2020</a:t>
            </a:r>
          </a:p>
        </p:txBody>
      </p:sp>
    </p:spTree>
    <p:extLst>
      <p:ext uri="{BB962C8B-B14F-4D97-AF65-F5344CB8AC3E}">
        <p14:creationId xmlns:p14="http://schemas.microsoft.com/office/powerpoint/2010/main" val="1829854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1" name="Rectangle 11"/>
          <p:cNvSpPr>
            <a:spLocks noChangeArrowheads="1"/>
          </p:cNvSpPr>
          <p:nvPr/>
        </p:nvSpPr>
        <p:spPr bwMode="auto">
          <a:xfrm>
            <a:off x="3733800" y="1676400"/>
            <a:ext cx="3429000" cy="1828800"/>
          </a:xfrm>
          <a:prstGeom prst="rect">
            <a:avLst/>
          </a:prstGeom>
          <a:solidFill>
            <a:schemeClr val="accent1">
              <a:lumMod val="20000"/>
              <a:lumOff val="80000"/>
            </a:schemeClr>
          </a:solidFill>
          <a:ln w="12700">
            <a:solidFill>
              <a:schemeClr val="tx1"/>
            </a:solidFill>
            <a:miter lim="800000"/>
            <a:headEnd/>
            <a:tailEnd/>
          </a:ln>
          <a:effectLst/>
        </p:spPr>
        <p:txBody>
          <a:bodyPr wrap="none" lIns="90000" tIns="46800" rIns="90000" bIns="46800" anchor="ctr"/>
          <a:lstStyle/>
          <a:p>
            <a:endParaRPr lang="en-GB"/>
          </a:p>
        </p:txBody>
      </p:sp>
      <p:sp>
        <p:nvSpPr>
          <p:cNvPr id="112642" name="Rectangle 2"/>
          <p:cNvSpPr>
            <a:spLocks noGrp="1" noChangeArrowheads="1"/>
          </p:cNvSpPr>
          <p:nvPr>
            <p:ph type="title"/>
          </p:nvPr>
        </p:nvSpPr>
        <p:spPr/>
        <p:txBody>
          <a:bodyPr/>
          <a:lstStyle/>
          <a:p>
            <a:pPr algn="r"/>
            <a:r>
              <a:rPr lang="en-US" altLang="en-US" dirty="0">
                <a:latin typeface="Arial" charset="0"/>
              </a:rPr>
              <a:t>Wide-Area Network 3</a:t>
            </a:r>
          </a:p>
        </p:txBody>
      </p:sp>
      <p:sp>
        <p:nvSpPr>
          <p:cNvPr id="112645" name="Rectangle 5"/>
          <p:cNvSpPr>
            <a:spLocks noChangeArrowheads="1"/>
          </p:cNvSpPr>
          <p:nvPr/>
        </p:nvSpPr>
        <p:spPr bwMode="auto">
          <a:xfrm>
            <a:off x="5410200" y="2286000"/>
            <a:ext cx="381000" cy="381000"/>
          </a:xfrm>
          <a:prstGeom prst="rect">
            <a:avLst/>
          </a:prstGeom>
          <a:solidFill>
            <a:schemeClr val="accent1"/>
          </a:solidFill>
          <a:ln w="12700">
            <a:solidFill>
              <a:schemeClr val="tx2"/>
            </a:solidFill>
            <a:miter lim="800000"/>
            <a:headEnd/>
            <a:tailEnd/>
          </a:ln>
          <a:effectLst/>
        </p:spPr>
        <p:txBody>
          <a:bodyPr wrap="none" lIns="90000" tIns="46800" rIns="90000" bIns="46800" anchor="ctr"/>
          <a:lstStyle/>
          <a:p>
            <a:endParaRPr lang="en-GB"/>
          </a:p>
        </p:txBody>
      </p:sp>
      <p:sp>
        <p:nvSpPr>
          <p:cNvPr id="112646" name="Rectangle 6"/>
          <p:cNvSpPr>
            <a:spLocks noChangeArrowheads="1"/>
          </p:cNvSpPr>
          <p:nvPr/>
        </p:nvSpPr>
        <p:spPr bwMode="auto">
          <a:xfrm>
            <a:off x="5943600" y="2286000"/>
            <a:ext cx="381000" cy="381000"/>
          </a:xfrm>
          <a:prstGeom prst="rect">
            <a:avLst/>
          </a:prstGeom>
          <a:solidFill>
            <a:schemeClr val="accent1"/>
          </a:solidFill>
          <a:ln w="12700">
            <a:solidFill>
              <a:schemeClr val="tx2"/>
            </a:solidFill>
            <a:miter lim="800000"/>
            <a:headEnd/>
            <a:tailEnd/>
          </a:ln>
          <a:effectLst/>
        </p:spPr>
        <p:txBody>
          <a:bodyPr wrap="none" lIns="90000" tIns="46800" rIns="90000" bIns="46800" anchor="ctr"/>
          <a:lstStyle/>
          <a:p>
            <a:endParaRPr lang="en-GB"/>
          </a:p>
        </p:txBody>
      </p:sp>
      <p:sp>
        <p:nvSpPr>
          <p:cNvPr id="112647" name="Rectangle 7"/>
          <p:cNvSpPr>
            <a:spLocks noChangeArrowheads="1"/>
          </p:cNvSpPr>
          <p:nvPr/>
        </p:nvSpPr>
        <p:spPr bwMode="auto">
          <a:xfrm>
            <a:off x="6477000" y="2286000"/>
            <a:ext cx="381000" cy="381000"/>
          </a:xfrm>
          <a:prstGeom prst="rect">
            <a:avLst/>
          </a:prstGeom>
          <a:solidFill>
            <a:schemeClr val="accent1"/>
          </a:solidFill>
          <a:ln w="12700">
            <a:solidFill>
              <a:schemeClr val="tx2"/>
            </a:solidFill>
            <a:miter lim="800000"/>
            <a:headEnd/>
            <a:tailEnd/>
          </a:ln>
          <a:effectLst/>
        </p:spPr>
        <p:txBody>
          <a:bodyPr wrap="none" lIns="90000" tIns="46800" rIns="90000" bIns="46800" anchor="ctr"/>
          <a:lstStyle/>
          <a:p>
            <a:endParaRPr lang="en-GB"/>
          </a:p>
        </p:txBody>
      </p:sp>
      <p:sp>
        <p:nvSpPr>
          <p:cNvPr id="112649" name="Rectangle 9"/>
          <p:cNvSpPr>
            <a:spLocks noChangeArrowheads="1"/>
          </p:cNvSpPr>
          <p:nvPr/>
        </p:nvSpPr>
        <p:spPr bwMode="auto">
          <a:xfrm>
            <a:off x="4038600" y="2819400"/>
            <a:ext cx="2819400" cy="381000"/>
          </a:xfrm>
          <a:prstGeom prst="rect">
            <a:avLst/>
          </a:prstGeom>
          <a:solidFill>
            <a:schemeClr val="hlink"/>
          </a:solidFill>
          <a:ln w="12700">
            <a:solidFill>
              <a:schemeClr val="tx2"/>
            </a:solidFill>
            <a:miter lim="800000"/>
            <a:headEnd/>
            <a:tailEnd/>
          </a:ln>
          <a:effectLst>
            <a:outerShdw dist="107763" dir="2700000" algn="ctr" rotWithShape="0">
              <a:schemeClr val="bg2"/>
            </a:outerShdw>
          </a:effectLst>
        </p:spPr>
        <p:txBody>
          <a:bodyPr wrap="none" lIns="90000" tIns="46800" rIns="90000" bIns="46800" anchor="ctr"/>
          <a:lstStyle/>
          <a:p>
            <a:pPr algn="ctr"/>
            <a:r>
              <a:rPr lang="en-US" altLang="en-US" sz="1800">
                <a:solidFill>
                  <a:srgbClr val="003366"/>
                </a:solidFill>
              </a:rPr>
              <a:t>Host operating system</a:t>
            </a:r>
            <a:endParaRPr lang="en-US" altLang="en-US"/>
          </a:p>
        </p:txBody>
      </p:sp>
      <p:sp>
        <p:nvSpPr>
          <p:cNvPr id="112652" name="Text Box 12"/>
          <p:cNvSpPr txBox="1">
            <a:spLocks noChangeArrowheads="1"/>
          </p:cNvSpPr>
          <p:nvPr/>
        </p:nvSpPr>
        <p:spPr bwMode="auto">
          <a:xfrm>
            <a:off x="3962400" y="1752600"/>
            <a:ext cx="1900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en-US">
                <a:solidFill>
                  <a:srgbClr val="CC0000"/>
                </a:solidFill>
              </a:rPr>
              <a:t>Network Host</a:t>
            </a:r>
            <a:endParaRPr lang="en-US" altLang="en-US"/>
          </a:p>
        </p:txBody>
      </p:sp>
      <p:sp>
        <p:nvSpPr>
          <p:cNvPr id="112653" name="Text Box 13"/>
          <p:cNvSpPr txBox="1">
            <a:spLocks noChangeArrowheads="1"/>
          </p:cNvSpPr>
          <p:nvPr/>
        </p:nvSpPr>
        <p:spPr bwMode="auto">
          <a:xfrm>
            <a:off x="4114800" y="2362200"/>
            <a:ext cx="6508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en-US" sz="1800">
                <a:solidFill>
                  <a:srgbClr val="003366"/>
                </a:solidFill>
              </a:rPr>
              <a:t>users</a:t>
            </a:r>
            <a:endParaRPr lang="en-US" altLang="en-US">
              <a:solidFill>
                <a:srgbClr val="003366"/>
              </a:solidFill>
            </a:endParaRPr>
          </a:p>
        </p:txBody>
      </p:sp>
      <p:sp>
        <p:nvSpPr>
          <p:cNvPr id="112654" name="Rectangle 14"/>
          <p:cNvSpPr>
            <a:spLocks noChangeArrowheads="1"/>
          </p:cNvSpPr>
          <p:nvPr/>
        </p:nvSpPr>
        <p:spPr bwMode="auto">
          <a:xfrm>
            <a:off x="4876800" y="2286000"/>
            <a:ext cx="381000" cy="381000"/>
          </a:xfrm>
          <a:prstGeom prst="rect">
            <a:avLst/>
          </a:prstGeom>
          <a:solidFill>
            <a:schemeClr val="accent1"/>
          </a:solidFill>
          <a:ln w="12700">
            <a:solidFill>
              <a:schemeClr val="tx2"/>
            </a:solidFill>
            <a:miter lim="800000"/>
            <a:headEnd/>
            <a:tailEnd/>
          </a:ln>
          <a:effectLst/>
        </p:spPr>
        <p:txBody>
          <a:bodyPr wrap="none" lIns="90000" tIns="46800" rIns="90000" bIns="46800" anchor="ctr"/>
          <a:lstStyle/>
          <a:p>
            <a:endParaRPr lang="en-GB"/>
          </a:p>
        </p:txBody>
      </p:sp>
      <p:sp>
        <p:nvSpPr>
          <p:cNvPr id="112655" name="Rectangle 15"/>
          <p:cNvSpPr>
            <a:spLocks noChangeArrowheads="1"/>
          </p:cNvSpPr>
          <p:nvPr/>
        </p:nvSpPr>
        <p:spPr bwMode="auto">
          <a:xfrm>
            <a:off x="4953000" y="4419600"/>
            <a:ext cx="3429000" cy="1828800"/>
          </a:xfrm>
          <a:prstGeom prst="rect">
            <a:avLst/>
          </a:prstGeom>
          <a:solidFill>
            <a:schemeClr val="accent1">
              <a:lumMod val="20000"/>
              <a:lumOff val="80000"/>
            </a:schemeClr>
          </a:solidFill>
          <a:ln w="12700">
            <a:solidFill>
              <a:schemeClr val="tx1"/>
            </a:solidFill>
            <a:miter lim="800000"/>
            <a:headEnd/>
            <a:tailEnd/>
          </a:ln>
          <a:effectLst/>
        </p:spPr>
        <p:txBody>
          <a:bodyPr wrap="none" lIns="90000" tIns="46800" rIns="90000" bIns="46800" anchor="ctr"/>
          <a:lstStyle/>
          <a:p>
            <a:endParaRPr lang="en-GB"/>
          </a:p>
        </p:txBody>
      </p:sp>
      <p:sp>
        <p:nvSpPr>
          <p:cNvPr id="112656" name="Rectangle 16"/>
          <p:cNvSpPr>
            <a:spLocks noChangeArrowheads="1"/>
          </p:cNvSpPr>
          <p:nvPr/>
        </p:nvSpPr>
        <p:spPr bwMode="auto">
          <a:xfrm>
            <a:off x="6629400" y="5029200"/>
            <a:ext cx="381000" cy="381000"/>
          </a:xfrm>
          <a:prstGeom prst="rect">
            <a:avLst/>
          </a:prstGeom>
          <a:solidFill>
            <a:schemeClr val="accent1"/>
          </a:solidFill>
          <a:ln w="12700">
            <a:solidFill>
              <a:schemeClr val="tx2"/>
            </a:solidFill>
            <a:miter lim="800000"/>
            <a:headEnd/>
            <a:tailEnd/>
          </a:ln>
          <a:effectLst/>
        </p:spPr>
        <p:txBody>
          <a:bodyPr wrap="none" lIns="90000" tIns="46800" rIns="90000" bIns="46800" anchor="ctr"/>
          <a:lstStyle/>
          <a:p>
            <a:endParaRPr lang="en-GB"/>
          </a:p>
        </p:txBody>
      </p:sp>
      <p:sp>
        <p:nvSpPr>
          <p:cNvPr id="112657" name="Rectangle 17"/>
          <p:cNvSpPr>
            <a:spLocks noChangeArrowheads="1"/>
          </p:cNvSpPr>
          <p:nvPr/>
        </p:nvSpPr>
        <p:spPr bwMode="auto">
          <a:xfrm>
            <a:off x="7162800" y="5029200"/>
            <a:ext cx="381000" cy="381000"/>
          </a:xfrm>
          <a:prstGeom prst="rect">
            <a:avLst/>
          </a:prstGeom>
          <a:solidFill>
            <a:schemeClr val="accent1"/>
          </a:solidFill>
          <a:ln w="12700">
            <a:solidFill>
              <a:schemeClr val="tx2"/>
            </a:solidFill>
            <a:miter lim="800000"/>
            <a:headEnd/>
            <a:tailEnd/>
          </a:ln>
          <a:effectLst/>
        </p:spPr>
        <p:txBody>
          <a:bodyPr wrap="none" lIns="90000" tIns="46800" rIns="90000" bIns="46800" anchor="ctr"/>
          <a:lstStyle/>
          <a:p>
            <a:endParaRPr lang="en-GB"/>
          </a:p>
        </p:txBody>
      </p:sp>
      <p:sp>
        <p:nvSpPr>
          <p:cNvPr id="112658" name="Rectangle 18"/>
          <p:cNvSpPr>
            <a:spLocks noChangeArrowheads="1"/>
          </p:cNvSpPr>
          <p:nvPr/>
        </p:nvSpPr>
        <p:spPr bwMode="auto">
          <a:xfrm>
            <a:off x="7696200" y="5029200"/>
            <a:ext cx="381000" cy="381000"/>
          </a:xfrm>
          <a:prstGeom prst="rect">
            <a:avLst/>
          </a:prstGeom>
          <a:solidFill>
            <a:schemeClr val="accent1"/>
          </a:solidFill>
          <a:ln w="12700">
            <a:solidFill>
              <a:schemeClr val="tx2"/>
            </a:solidFill>
            <a:miter lim="800000"/>
            <a:headEnd/>
            <a:tailEnd/>
          </a:ln>
          <a:effectLst/>
        </p:spPr>
        <p:txBody>
          <a:bodyPr wrap="none" lIns="90000" tIns="46800" rIns="90000" bIns="46800" anchor="ctr"/>
          <a:lstStyle/>
          <a:p>
            <a:endParaRPr lang="en-GB"/>
          </a:p>
        </p:txBody>
      </p:sp>
      <p:sp>
        <p:nvSpPr>
          <p:cNvPr id="112659" name="Rectangle 19"/>
          <p:cNvSpPr>
            <a:spLocks noChangeArrowheads="1"/>
          </p:cNvSpPr>
          <p:nvPr/>
        </p:nvSpPr>
        <p:spPr bwMode="auto">
          <a:xfrm>
            <a:off x="5257800" y="5562600"/>
            <a:ext cx="2819400" cy="381000"/>
          </a:xfrm>
          <a:prstGeom prst="rect">
            <a:avLst/>
          </a:prstGeom>
          <a:solidFill>
            <a:schemeClr val="hlink"/>
          </a:solidFill>
          <a:ln w="12700">
            <a:solidFill>
              <a:schemeClr val="tx2"/>
            </a:solidFill>
            <a:miter lim="800000"/>
            <a:headEnd/>
            <a:tailEnd/>
          </a:ln>
          <a:effectLst>
            <a:outerShdw dist="107763" dir="2700000" algn="ctr" rotWithShape="0">
              <a:schemeClr val="bg2"/>
            </a:outerShdw>
          </a:effectLst>
        </p:spPr>
        <p:txBody>
          <a:bodyPr wrap="none" lIns="90000" tIns="46800" rIns="90000" bIns="46800" anchor="ctr"/>
          <a:lstStyle/>
          <a:p>
            <a:pPr algn="ctr"/>
            <a:r>
              <a:rPr lang="en-US" altLang="en-US" sz="1800">
                <a:solidFill>
                  <a:srgbClr val="003366"/>
                </a:solidFill>
              </a:rPr>
              <a:t>Host operating system</a:t>
            </a:r>
            <a:endParaRPr lang="en-US" altLang="en-US"/>
          </a:p>
        </p:txBody>
      </p:sp>
      <p:sp>
        <p:nvSpPr>
          <p:cNvPr id="112660" name="Text Box 20"/>
          <p:cNvSpPr txBox="1">
            <a:spLocks noChangeArrowheads="1"/>
          </p:cNvSpPr>
          <p:nvPr/>
        </p:nvSpPr>
        <p:spPr bwMode="auto">
          <a:xfrm>
            <a:off x="5181600" y="4495800"/>
            <a:ext cx="1900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en-US">
                <a:solidFill>
                  <a:srgbClr val="CC0000"/>
                </a:solidFill>
              </a:rPr>
              <a:t>Network Host</a:t>
            </a:r>
            <a:endParaRPr lang="en-US" altLang="en-US"/>
          </a:p>
        </p:txBody>
      </p:sp>
      <p:sp>
        <p:nvSpPr>
          <p:cNvPr id="112661" name="Text Box 21"/>
          <p:cNvSpPr txBox="1">
            <a:spLocks noChangeArrowheads="1"/>
          </p:cNvSpPr>
          <p:nvPr/>
        </p:nvSpPr>
        <p:spPr bwMode="auto">
          <a:xfrm>
            <a:off x="5334000" y="5105400"/>
            <a:ext cx="6508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en-US" sz="1800">
                <a:solidFill>
                  <a:srgbClr val="003366"/>
                </a:solidFill>
              </a:rPr>
              <a:t>users</a:t>
            </a:r>
            <a:endParaRPr lang="en-US" altLang="en-US">
              <a:solidFill>
                <a:srgbClr val="003366"/>
              </a:solidFill>
            </a:endParaRPr>
          </a:p>
        </p:txBody>
      </p:sp>
      <p:sp>
        <p:nvSpPr>
          <p:cNvPr id="112662" name="Rectangle 22"/>
          <p:cNvSpPr>
            <a:spLocks noChangeArrowheads="1"/>
          </p:cNvSpPr>
          <p:nvPr/>
        </p:nvSpPr>
        <p:spPr bwMode="auto">
          <a:xfrm>
            <a:off x="6096000" y="5029200"/>
            <a:ext cx="381000" cy="381000"/>
          </a:xfrm>
          <a:prstGeom prst="rect">
            <a:avLst/>
          </a:prstGeom>
          <a:solidFill>
            <a:schemeClr val="accent1"/>
          </a:solidFill>
          <a:ln w="12700">
            <a:solidFill>
              <a:schemeClr val="tx2"/>
            </a:solidFill>
            <a:miter lim="800000"/>
            <a:headEnd/>
            <a:tailEnd/>
          </a:ln>
          <a:effectLst/>
        </p:spPr>
        <p:txBody>
          <a:bodyPr wrap="none" lIns="90000" tIns="46800" rIns="90000" bIns="46800" anchor="ctr"/>
          <a:lstStyle/>
          <a:p>
            <a:endParaRPr lang="en-GB"/>
          </a:p>
        </p:txBody>
      </p:sp>
      <p:sp>
        <p:nvSpPr>
          <p:cNvPr id="112663" name="Oval 23"/>
          <p:cNvSpPr>
            <a:spLocks noChangeArrowheads="1"/>
          </p:cNvSpPr>
          <p:nvPr/>
        </p:nvSpPr>
        <p:spPr bwMode="auto">
          <a:xfrm>
            <a:off x="457200" y="3505200"/>
            <a:ext cx="3657600" cy="2667000"/>
          </a:xfrm>
          <a:prstGeom prst="ellipse">
            <a:avLst/>
          </a:prstGeom>
          <a:solidFill>
            <a:schemeClr val="accent3">
              <a:lumMod val="20000"/>
              <a:lumOff val="80000"/>
            </a:schemeClr>
          </a:solidFill>
          <a:ln w="12700">
            <a:solidFill>
              <a:schemeClr val="tx2"/>
            </a:solidFill>
            <a:round/>
            <a:headEnd/>
            <a:tailEnd/>
          </a:ln>
          <a:effectLst/>
        </p:spPr>
        <p:txBody>
          <a:bodyPr wrap="none" lIns="90000" tIns="46800" rIns="90000" bIns="46800" anchor="ctr"/>
          <a:lstStyle/>
          <a:p>
            <a:endParaRPr lang="en-GB"/>
          </a:p>
        </p:txBody>
      </p:sp>
      <p:sp>
        <p:nvSpPr>
          <p:cNvPr id="112664" name="Rectangle 24"/>
          <p:cNvSpPr>
            <a:spLocks noChangeArrowheads="1"/>
          </p:cNvSpPr>
          <p:nvPr/>
        </p:nvSpPr>
        <p:spPr bwMode="auto">
          <a:xfrm>
            <a:off x="2057400" y="4114800"/>
            <a:ext cx="457200" cy="381000"/>
          </a:xfrm>
          <a:prstGeom prst="rect">
            <a:avLst/>
          </a:prstGeom>
          <a:solidFill>
            <a:schemeClr val="hlink"/>
          </a:solidFill>
          <a:ln w="12700">
            <a:solidFill>
              <a:schemeClr val="accent2"/>
            </a:solidFill>
            <a:miter lim="800000"/>
            <a:headEnd/>
            <a:tailEnd/>
          </a:ln>
          <a:effectLst/>
        </p:spPr>
        <p:txBody>
          <a:bodyPr wrap="none" lIns="90000" tIns="46800" rIns="90000" bIns="46800" anchor="ctr"/>
          <a:lstStyle/>
          <a:p>
            <a:endParaRPr lang="en-GB"/>
          </a:p>
        </p:txBody>
      </p:sp>
      <p:sp>
        <p:nvSpPr>
          <p:cNvPr id="112665" name="Rectangle 25"/>
          <p:cNvSpPr>
            <a:spLocks noChangeArrowheads="1"/>
          </p:cNvSpPr>
          <p:nvPr/>
        </p:nvSpPr>
        <p:spPr bwMode="auto">
          <a:xfrm>
            <a:off x="2057400" y="5181600"/>
            <a:ext cx="457200" cy="381000"/>
          </a:xfrm>
          <a:prstGeom prst="rect">
            <a:avLst/>
          </a:prstGeom>
          <a:solidFill>
            <a:schemeClr val="hlink"/>
          </a:solidFill>
          <a:ln w="12700">
            <a:solidFill>
              <a:schemeClr val="accent2"/>
            </a:solidFill>
            <a:miter lim="800000"/>
            <a:headEnd/>
            <a:tailEnd/>
          </a:ln>
          <a:effectLst/>
        </p:spPr>
        <p:txBody>
          <a:bodyPr wrap="none" lIns="90000" tIns="46800" rIns="90000" bIns="46800" anchor="ctr"/>
          <a:lstStyle/>
          <a:p>
            <a:endParaRPr lang="en-GB"/>
          </a:p>
        </p:txBody>
      </p:sp>
      <p:sp>
        <p:nvSpPr>
          <p:cNvPr id="112666" name="Rectangle 26"/>
          <p:cNvSpPr>
            <a:spLocks noChangeArrowheads="1"/>
          </p:cNvSpPr>
          <p:nvPr/>
        </p:nvSpPr>
        <p:spPr bwMode="auto">
          <a:xfrm>
            <a:off x="1066800" y="4724400"/>
            <a:ext cx="457200" cy="381000"/>
          </a:xfrm>
          <a:prstGeom prst="rect">
            <a:avLst/>
          </a:prstGeom>
          <a:solidFill>
            <a:schemeClr val="hlink"/>
          </a:solidFill>
          <a:ln w="12700">
            <a:solidFill>
              <a:schemeClr val="accent2"/>
            </a:solidFill>
            <a:miter lim="800000"/>
            <a:headEnd/>
            <a:tailEnd/>
          </a:ln>
          <a:effectLst/>
        </p:spPr>
        <p:txBody>
          <a:bodyPr wrap="none" lIns="90000" tIns="46800" rIns="90000" bIns="46800" anchor="ctr"/>
          <a:lstStyle/>
          <a:p>
            <a:endParaRPr lang="en-GB"/>
          </a:p>
        </p:txBody>
      </p:sp>
      <p:sp>
        <p:nvSpPr>
          <p:cNvPr id="112667" name="Rectangle 27"/>
          <p:cNvSpPr>
            <a:spLocks noChangeArrowheads="1"/>
          </p:cNvSpPr>
          <p:nvPr/>
        </p:nvSpPr>
        <p:spPr bwMode="auto">
          <a:xfrm>
            <a:off x="3048000" y="4724400"/>
            <a:ext cx="457200" cy="381000"/>
          </a:xfrm>
          <a:prstGeom prst="rect">
            <a:avLst/>
          </a:prstGeom>
          <a:solidFill>
            <a:schemeClr val="hlink"/>
          </a:solidFill>
          <a:ln w="12700">
            <a:solidFill>
              <a:schemeClr val="accent2"/>
            </a:solidFill>
            <a:miter lim="800000"/>
            <a:headEnd/>
            <a:tailEnd/>
          </a:ln>
          <a:effectLst/>
        </p:spPr>
        <p:txBody>
          <a:bodyPr wrap="none" lIns="90000" tIns="46800" rIns="90000" bIns="46800" anchor="ctr"/>
          <a:lstStyle/>
          <a:p>
            <a:endParaRPr lang="en-GB"/>
          </a:p>
        </p:txBody>
      </p:sp>
      <p:sp>
        <p:nvSpPr>
          <p:cNvPr id="112668" name="Line 28"/>
          <p:cNvSpPr>
            <a:spLocks noChangeShapeType="1"/>
          </p:cNvSpPr>
          <p:nvPr/>
        </p:nvSpPr>
        <p:spPr bwMode="auto">
          <a:xfrm>
            <a:off x="1524000" y="4953000"/>
            <a:ext cx="1524000" cy="0"/>
          </a:xfrm>
          <a:prstGeom prst="line">
            <a:avLst/>
          </a:prstGeom>
          <a:noFill/>
          <a:ln w="25400">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12669" name="Line 29"/>
          <p:cNvSpPr>
            <a:spLocks noChangeShapeType="1"/>
          </p:cNvSpPr>
          <p:nvPr/>
        </p:nvSpPr>
        <p:spPr bwMode="auto">
          <a:xfrm>
            <a:off x="2286000" y="4572000"/>
            <a:ext cx="0" cy="609600"/>
          </a:xfrm>
          <a:prstGeom prst="line">
            <a:avLst/>
          </a:prstGeom>
          <a:noFill/>
          <a:ln w="25400">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12670" name="Line 30"/>
          <p:cNvSpPr>
            <a:spLocks noChangeShapeType="1"/>
          </p:cNvSpPr>
          <p:nvPr/>
        </p:nvSpPr>
        <p:spPr bwMode="auto">
          <a:xfrm flipV="1">
            <a:off x="2514600" y="5105400"/>
            <a:ext cx="533400" cy="304800"/>
          </a:xfrm>
          <a:prstGeom prst="line">
            <a:avLst/>
          </a:prstGeom>
          <a:noFill/>
          <a:ln w="25400">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12671" name="Line 31"/>
          <p:cNvSpPr>
            <a:spLocks noChangeShapeType="1"/>
          </p:cNvSpPr>
          <p:nvPr/>
        </p:nvSpPr>
        <p:spPr bwMode="auto">
          <a:xfrm flipV="1">
            <a:off x="1524000" y="4419600"/>
            <a:ext cx="533400" cy="304800"/>
          </a:xfrm>
          <a:prstGeom prst="line">
            <a:avLst/>
          </a:prstGeom>
          <a:noFill/>
          <a:ln w="25400">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12672" name="Line 32"/>
          <p:cNvSpPr>
            <a:spLocks noChangeShapeType="1"/>
          </p:cNvSpPr>
          <p:nvPr/>
        </p:nvSpPr>
        <p:spPr bwMode="auto">
          <a:xfrm>
            <a:off x="2590800" y="4495800"/>
            <a:ext cx="457200" cy="304800"/>
          </a:xfrm>
          <a:prstGeom prst="line">
            <a:avLst/>
          </a:prstGeom>
          <a:noFill/>
          <a:ln w="25400">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12673" name="Line 33"/>
          <p:cNvSpPr>
            <a:spLocks noChangeShapeType="1"/>
          </p:cNvSpPr>
          <p:nvPr/>
        </p:nvSpPr>
        <p:spPr bwMode="auto">
          <a:xfrm>
            <a:off x="1600200" y="5105400"/>
            <a:ext cx="457200" cy="304800"/>
          </a:xfrm>
          <a:prstGeom prst="line">
            <a:avLst/>
          </a:prstGeom>
          <a:noFill/>
          <a:ln w="25400">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12674" name="AutoShape 34"/>
          <p:cNvSpPr>
            <a:spLocks noChangeArrowheads="1"/>
          </p:cNvSpPr>
          <p:nvPr/>
        </p:nvSpPr>
        <p:spPr bwMode="auto">
          <a:xfrm>
            <a:off x="457200" y="6096000"/>
            <a:ext cx="3657600" cy="457200"/>
          </a:xfrm>
          <a:prstGeom prst="roundRect">
            <a:avLst>
              <a:gd name="adj" fmla="val 16667"/>
            </a:avLst>
          </a:prstGeom>
          <a:solidFill>
            <a:srgbClr val="00CCFF">
              <a:alpha val="50000"/>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solidFill>
                  <a:srgbClr val="CC0000"/>
                </a:solidFill>
              </a:rPr>
              <a:t>Communication Subsystem</a:t>
            </a:r>
            <a:endParaRPr lang="en-US" altLang="en-US"/>
          </a:p>
        </p:txBody>
      </p:sp>
      <p:sp>
        <p:nvSpPr>
          <p:cNvPr id="112675" name="AutoShape 35"/>
          <p:cNvSpPr>
            <a:spLocks noChangeArrowheads="1"/>
          </p:cNvSpPr>
          <p:nvPr/>
        </p:nvSpPr>
        <p:spPr bwMode="auto">
          <a:xfrm>
            <a:off x="304800" y="2971800"/>
            <a:ext cx="1905000" cy="609600"/>
          </a:xfrm>
          <a:prstGeom prst="wedgeRoundRectCallout">
            <a:avLst>
              <a:gd name="adj1" fmla="val 54750"/>
              <a:gd name="adj2" fmla="val 151301"/>
              <a:gd name="adj3" fmla="val 16667"/>
            </a:avLst>
          </a:prstGeom>
          <a:solidFill>
            <a:schemeClr val="accent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800">
                <a:solidFill>
                  <a:srgbClr val="003366"/>
                </a:solidFill>
              </a:rPr>
              <a:t>Communication</a:t>
            </a:r>
          </a:p>
          <a:p>
            <a:pPr algn="ctr"/>
            <a:r>
              <a:rPr lang="en-US" altLang="en-US" sz="1800">
                <a:solidFill>
                  <a:srgbClr val="003366"/>
                </a:solidFill>
              </a:rPr>
              <a:t>Processor</a:t>
            </a:r>
          </a:p>
        </p:txBody>
      </p:sp>
      <p:sp>
        <p:nvSpPr>
          <p:cNvPr id="112676" name="AutoShape 36"/>
          <p:cNvSpPr>
            <a:spLocks noChangeArrowheads="1"/>
          </p:cNvSpPr>
          <p:nvPr/>
        </p:nvSpPr>
        <p:spPr bwMode="auto">
          <a:xfrm>
            <a:off x="3505200" y="4724400"/>
            <a:ext cx="1676400" cy="381000"/>
          </a:xfrm>
          <a:prstGeom prst="leftRightArrow">
            <a:avLst>
              <a:gd name="adj1" fmla="val 50000"/>
              <a:gd name="adj2" fmla="val 88000"/>
            </a:avLst>
          </a:prstGeom>
          <a:solidFill>
            <a:schemeClr val="hlink">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2677" name="AutoShape 37"/>
          <p:cNvSpPr>
            <a:spLocks noChangeArrowheads="1"/>
          </p:cNvSpPr>
          <p:nvPr/>
        </p:nvSpPr>
        <p:spPr bwMode="auto">
          <a:xfrm rot="-2679906">
            <a:off x="2174875" y="3313113"/>
            <a:ext cx="1981200" cy="381000"/>
          </a:xfrm>
          <a:prstGeom prst="leftRightArrow">
            <a:avLst>
              <a:gd name="adj1" fmla="val 50000"/>
              <a:gd name="adj2" fmla="val 104000"/>
            </a:avLst>
          </a:prstGeom>
          <a:solidFill>
            <a:schemeClr val="hlink">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extLst>
      <p:ext uri="{BB962C8B-B14F-4D97-AF65-F5344CB8AC3E}">
        <p14:creationId xmlns:p14="http://schemas.microsoft.com/office/powerpoint/2010/main" val="2145705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r>
              <a:rPr lang="en-US" altLang="en-US"/>
              <a:t>TCP/IP</a:t>
            </a:r>
          </a:p>
        </p:txBody>
      </p:sp>
      <p:sp>
        <p:nvSpPr>
          <p:cNvPr id="121859" name="Rectangle 3"/>
          <p:cNvSpPr>
            <a:spLocks noChangeArrowheads="1"/>
          </p:cNvSpPr>
          <p:nvPr/>
        </p:nvSpPr>
        <p:spPr bwMode="auto">
          <a:xfrm>
            <a:off x="762000" y="1371600"/>
            <a:ext cx="7848600" cy="200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n-US" altLang="en-US" dirty="0">
              <a:latin typeface="Tahoma" pitchFamily="34" charset="0"/>
              <a:cs typeface="Tahoma" pitchFamily="34" charset="0"/>
            </a:endParaRPr>
          </a:p>
          <a:p>
            <a:r>
              <a:rPr lang="en-US" altLang="en-US" sz="1800" b="1" dirty="0">
                <a:solidFill>
                  <a:srgbClr val="FF3300"/>
                </a:solidFill>
                <a:latin typeface="Tahoma" pitchFamily="34" charset="0"/>
                <a:cs typeface="Tahoma" pitchFamily="34" charset="0"/>
              </a:rPr>
              <a:t>Transmission Control Protocol/Internet Protocol (TCP/IP)</a:t>
            </a:r>
            <a:r>
              <a:rPr lang="en-US" altLang="en-US" sz="1800" dirty="0">
                <a:solidFill>
                  <a:srgbClr val="FF3300"/>
                </a:solidFill>
                <a:latin typeface="Tahoma" pitchFamily="34" charset="0"/>
                <a:cs typeface="Tahoma" pitchFamily="34" charset="0"/>
              </a:rPr>
              <a:t> </a:t>
            </a:r>
          </a:p>
          <a:p>
            <a:pPr lvl="1"/>
            <a:r>
              <a:rPr lang="en-US" altLang="en-US" sz="1400" dirty="0">
                <a:latin typeface="Tahoma" pitchFamily="34" charset="0"/>
                <a:cs typeface="Tahoma" pitchFamily="34" charset="0"/>
              </a:rPr>
              <a:t>A protocol developed by the Department of Defense for communications between computers. It is built into the UNIX system and has become the de facto standard for data transmission over networks, including the Internet. TCP and IP are transport and address protocols;</a:t>
            </a:r>
            <a:r>
              <a:rPr lang="en-US" altLang="en-US" sz="1400" b="1" dirty="0">
                <a:latin typeface="Tahoma" pitchFamily="34" charset="0"/>
                <a:cs typeface="Tahoma" pitchFamily="34" charset="0"/>
              </a:rPr>
              <a:t> TCP</a:t>
            </a:r>
            <a:r>
              <a:rPr lang="en-US" altLang="en-US" sz="1400" dirty="0">
                <a:latin typeface="Tahoma" pitchFamily="34" charset="0"/>
                <a:cs typeface="Tahoma" pitchFamily="34" charset="0"/>
              </a:rPr>
              <a:t> is used to establish a connection for data transmission, and </a:t>
            </a:r>
            <a:r>
              <a:rPr lang="en-US" altLang="en-US" sz="1400" b="1" dirty="0">
                <a:latin typeface="Tahoma" pitchFamily="34" charset="0"/>
                <a:cs typeface="Tahoma" pitchFamily="34" charset="0"/>
              </a:rPr>
              <a:t>IP</a:t>
            </a:r>
            <a:r>
              <a:rPr lang="en-US" altLang="en-US" sz="1400" dirty="0">
                <a:latin typeface="Tahoma" pitchFamily="34" charset="0"/>
                <a:cs typeface="Tahoma" pitchFamily="34" charset="0"/>
              </a:rPr>
              <a:t> defines the method for sending the data in packets. </a:t>
            </a:r>
          </a:p>
          <a:p>
            <a:endParaRPr lang="en-US" altLang="en-US" sz="1400" dirty="0">
              <a:latin typeface="Tahoma" pitchFamily="34" charset="0"/>
              <a:cs typeface="Tahoma" pitchFamily="34" charset="0"/>
            </a:endParaRPr>
          </a:p>
        </p:txBody>
      </p:sp>
      <p:pic>
        <p:nvPicPr>
          <p:cNvPr id="1044" name="Picture 2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4728" y="3345282"/>
            <a:ext cx="3886200" cy="25942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84354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algn="r"/>
            <a:r>
              <a:rPr lang="en-US" altLang="en-US">
                <a:latin typeface="Arial" charset="0"/>
              </a:rPr>
              <a:t>Domain Name Service</a:t>
            </a:r>
          </a:p>
        </p:txBody>
      </p:sp>
      <p:sp>
        <p:nvSpPr>
          <p:cNvPr id="113668" name="Text Box 4"/>
          <p:cNvSpPr txBox="1">
            <a:spLocks noChangeArrowheads="1"/>
          </p:cNvSpPr>
          <p:nvPr/>
        </p:nvSpPr>
        <p:spPr bwMode="auto">
          <a:xfrm>
            <a:off x="381000" y="1692532"/>
            <a:ext cx="8458200" cy="2064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r>
              <a:rPr lang="en-US" altLang="en-US" sz="1600" dirty="0">
                <a:solidFill>
                  <a:srgbClr val="CC0000"/>
                </a:solidFill>
              </a:rPr>
              <a:t>Goal: </a:t>
            </a:r>
            <a:r>
              <a:rPr lang="en-US" altLang="en-US" sz="1400" dirty="0">
                <a:solidFill>
                  <a:srgbClr val="003366"/>
                </a:solidFill>
              </a:rPr>
              <a:t>to communicate each computer must have a unique and resolvable ID.</a:t>
            </a:r>
            <a:endParaRPr lang="en-US" altLang="en-US" sz="1600" dirty="0">
              <a:solidFill>
                <a:srgbClr val="003366"/>
              </a:solidFill>
            </a:endParaRPr>
          </a:p>
          <a:p>
            <a:r>
              <a:rPr lang="en-US" altLang="en-US" sz="1600" dirty="0">
                <a:solidFill>
                  <a:srgbClr val="CC0000"/>
                </a:solidFill>
              </a:rPr>
              <a:t>Name Structure:</a:t>
            </a:r>
            <a:r>
              <a:rPr lang="en-US" altLang="en-US" sz="1600" dirty="0">
                <a:solidFill>
                  <a:srgbClr val="003366"/>
                </a:solidFill>
              </a:rPr>
              <a:t> </a:t>
            </a:r>
            <a:r>
              <a:rPr lang="en-US" altLang="en-US" sz="1400" dirty="0">
                <a:solidFill>
                  <a:srgbClr val="003366"/>
                </a:solidFill>
              </a:rPr>
              <a:t>each computer is identified by pair &lt;host name (an unique name within the network), identifier (an unique id within the host)&gt;</a:t>
            </a:r>
          </a:p>
          <a:p>
            <a:r>
              <a:rPr lang="en-US" altLang="en-US" sz="1600" dirty="0">
                <a:solidFill>
                  <a:srgbClr val="CC0000"/>
                </a:solidFill>
              </a:rPr>
              <a:t>Step 1: </a:t>
            </a:r>
            <a:r>
              <a:rPr lang="en-US" altLang="en-US" sz="1400" dirty="0">
                <a:solidFill>
                  <a:srgbClr val="003366"/>
                </a:solidFill>
              </a:rPr>
              <a:t>accepting a host name and returning the address of name server responsible on that name (DN Server).</a:t>
            </a:r>
          </a:p>
          <a:p>
            <a:r>
              <a:rPr lang="en-US" altLang="en-US" sz="1600" dirty="0">
                <a:solidFill>
                  <a:srgbClr val="CC0000"/>
                </a:solidFill>
              </a:rPr>
              <a:t>Step 2: </a:t>
            </a:r>
            <a:r>
              <a:rPr lang="en-US" altLang="en-US" sz="1400" dirty="0">
                <a:solidFill>
                  <a:srgbClr val="003366"/>
                </a:solidFill>
              </a:rPr>
              <a:t>contacting the server responsible on that name and returning the host-id.</a:t>
            </a:r>
          </a:p>
          <a:p>
            <a:r>
              <a:rPr lang="en-US" altLang="en-US" sz="1600" dirty="0">
                <a:solidFill>
                  <a:srgbClr val="CC0000"/>
                </a:solidFill>
              </a:rPr>
              <a:t>Reason:</a:t>
            </a:r>
            <a:r>
              <a:rPr lang="en-US" altLang="en-US" sz="1600" dirty="0">
                <a:solidFill>
                  <a:srgbClr val="003366"/>
                </a:solidFill>
              </a:rPr>
              <a:t> distributed responsibility and updating.</a:t>
            </a:r>
          </a:p>
          <a:p>
            <a:r>
              <a:rPr lang="en-US" altLang="en-US" sz="1600" dirty="0">
                <a:solidFill>
                  <a:srgbClr val="CC0000"/>
                </a:solidFill>
              </a:rPr>
              <a:t>Example: </a:t>
            </a:r>
            <a:r>
              <a:rPr lang="en-US" altLang="en-US" sz="1600" dirty="0">
                <a:solidFill>
                  <a:srgbClr val="003366"/>
                </a:solidFill>
              </a:rPr>
              <a:t>rita.vms.co.il - 212.25.69.210</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755" y="4038600"/>
            <a:ext cx="3953935" cy="14501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8585" y="4038600"/>
            <a:ext cx="4257675" cy="14928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5105400" y="5813236"/>
            <a:ext cx="1814920" cy="646331"/>
          </a:xfrm>
          <a:prstGeom prst="rect">
            <a:avLst/>
          </a:prstGeom>
          <a:noFill/>
        </p:spPr>
        <p:txBody>
          <a:bodyPr wrap="none" rtlCol="0">
            <a:spAutoFit/>
          </a:bodyPr>
          <a:lstStyle/>
          <a:p>
            <a:pPr marL="285750" indent="-285750">
              <a:buFont typeface="Arial" panose="020B0604020202020204" pitchFamily="34" charset="0"/>
              <a:buChar char="•"/>
            </a:pPr>
            <a:r>
              <a:rPr lang="en-US" sz="1200" dirty="0"/>
              <a:t>Ipconfig</a:t>
            </a:r>
          </a:p>
          <a:p>
            <a:pPr marL="285750" indent="-285750">
              <a:buFont typeface="Arial" panose="020B0604020202020204" pitchFamily="34" charset="0"/>
              <a:buChar char="•"/>
            </a:pPr>
            <a:r>
              <a:rPr lang="en-US" sz="1200" dirty="0" err="1"/>
              <a:t>tracert</a:t>
            </a:r>
            <a:r>
              <a:rPr lang="en-US" sz="1200" dirty="0"/>
              <a:t> &lt;domain&gt;</a:t>
            </a:r>
          </a:p>
          <a:p>
            <a:pPr marL="285750" indent="-285750">
              <a:buFont typeface="Arial" panose="020B0604020202020204" pitchFamily="34" charset="0"/>
              <a:buChar char="•"/>
            </a:pPr>
            <a:r>
              <a:rPr lang="en-US" sz="1200" dirty="0"/>
              <a:t>hosts</a:t>
            </a:r>
            <a:endParaRPr lang="en-GB" sz="1200" dirty="0"/>
          </a:p>
        </p:txBody>
      </p:sp>
      <p:sp>
        <p:nvSpPr>
          <p:cNvPr id="8" name="TextBox 7">
            <a:extLst>
              <a:ext uri="{FF2B5EF4-FFF2-40B4-BE49-F238E27FC236}">
                <a16:creationId xmlns:a16="http://schemas.microsoft.com/office/drawing/2014/main" id="{0E3CC04E-B303-4DD5-B5C5-5F1EC4C1F251}"/>
              </a:ext>
            </a:extLst>
          </p:cNvPr>
          <p:cNvSpPr txBox="1"/>
          <p:nvPr/>
        </p:nvSpPr>
        <p:spPr>
          <a:xfrm>
            <a:off x="2819400" y="5828624"/>
            <a:ext cx="2059618" cy="307777"/>
          </a:xfrm>
          <a:prstGeom prst="rect">
            <a:avLst/>
          </a:prstGeom>
          <a:noFill/>
        </p:spPr>
        <p:txBody>
          <a:bodyPr wrap="square">
            <a:spAutoFit/>
          </a:bodyPr>
          <a:lstStyle/>
          <a:p>
            <a:r>
              <a:rPr lang="en-US" sz="1400" dirty="0">
                <a:hlinkClick r:id="rId4"/>
              </a:rPr>
              <a:t>https://ip-api.com/</a:t>
            </a:r>
            <a:endParaRPr lang="en-US" sz="1400" dirty="0"/>
          </a:p>
        </p:txBody>
      </p:sp>
    </p:spTree>
    <p:extLst>
      <p:ext uri="{BB962C8B-B14F-4D97-AF65-F5344CB8AC3E}">
        <p14:creationId xmlns:p14="http://schemas.microsoft.com/office/powerpoint/2010/main" val="2631260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r>
              <a:rPr kumimoji="0" lang="en-US" altLang="en-US">
                <a:solidFill>
                  <a:schemeClr val="tx1"/>
                </a:solidFill>
                <a:cs typeface="Tahoma" pitchFamily="34" charset="0"/>
              </a:rPr>
              <a:t>Uniform Resource Locator</a:t>
            </a:r>
          </a:p>
        </p:txBody>
      </p:sp>
      <p:sp>
        <p:nvSpPr>
          <p:cNvPr id="122884" name="Rectangle 4"/>
          <p:cNvSpPr>
            <a:spLocks noChangeArrowheads="1"/>
          </p:cNvSpPr>
          <p:nvPr/>
        </p:nvSpPr>
        <p:spPr bwMode="auto">
          <a:xfrm>
            <a:off x="526742" y="2032735"/>
            <a:ext cx="1143000" cy="381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en-US" altLang="en-US" sz="1800">
                <a:latin typeface="Tahoma" pitchFamily="34" charset="0"/>
                <a:cs typeface="Tahoma" pitchFamily="34" charset="0"/>
              </a:rPr>
              <a:t>http://</a:t>
            </a:r>
          </a:p>
        </p:txBody>
      </p:sp>
      <p:sp>
        <p:nvSpPr>
          <p:cNvPr id="122885" name="Rectangle 5"/>
          <p:cNvSpPr>
            <a:spLocks noChangeArrowheads="1"/>
          </p:cNvSpPr>
          <p:nvPr/>
        </p:nvSpPr>
        <p:spPr bwMode="auto">
          <a:xfrm>
            <a:off x="2050742" y="2032735"/>
            <a:ext cx="2209800" cy="381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en-US" altLang="en-US" sz="1800">
                <a:latin typeface="Tahoma" pitchFamily="34" charset="0"/>
                <a:cs typeface="Tahoma" pitchFamily="34" charset="0"/>
              </a:rPr>
              <a:t>www.keselman.com</a:t>
            </a:r>
          </a:p>
        </p:txBody>
      </p:sp>
      <p:sp>
        <p:nvSpPr>
          <p:cNvPr id="122886" name="Rectangle 6"/>
          <p:cNvSpPr>
            <a:spLocks noChangeArrowheads="1"/>
          </p:cNvSpPr>
          <p:nvPr/>
        </p:nvSpPr>
        <p:spPr bwMode="auto">
          <a:xfrm>
            <a:off x="4641542" y="2032735"/>
            <a:ext cx="1905000" cy="381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en-US" altLang="en-US" sz="1800" dirty="0">
                <a:latin typeface="Tahoma" pitchFamily="34" charset="0"/>
                <a:cs typeface="Tahoma" pitchFamily="34" charset="0"/>
              </a:rPr>
              <a:t>/</a:t>
            </a:r>
            <a:r>
              <a:rPr lang="en-US" altLang="en-US" sz="1800" dirty="0" err="1">
                <a:latin typeface="Tahoma" pitchFamily="34" charset="0"/>
                <a:cs typeface="Tahoma" pitchFamily="34" charset="0"/>
              </a:rPr>
              <a:t>nnt</a:t>
            </a:r>
            <a:r>
              <a:rPr lang="en-US" altLang="en-US" sz="1800" dirty="0">
                <a:latin typeface="Tahoma" pitchFamily="34" charset="0"/>
                <a:cs typeface="Tahoma" pitchFamily="34" charset="0"/>
              </a:rPr>
              <a:t>/index.asp</a:t>
            </a:r>
          </a:p>
        </p:txBody>
      </p:sp>
      <p:sp>
        <p:nvSpPr>
          <p:cNvPr id="122887" name="Rectangle 7"/>
          <p:cNvSpPr>
            <a:spLocks noChangeArrowheads="1"/>
          </p:cNvSpPr>
          <p:nvPr/>
        </p:nvSpPr>
        <p:spPr bwMode="auto">
          <a:xfrm>
            <a:off x="7384742" y="2032735"/>
            <a:ext cx="1219200" cy="381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en-US" altLang="en-US" sz="1800">
                <a:latin typeface="Tahoma" pitchFamily="34" charset="0"/>
                <a:cs typeface="Tahoma" pitchFamily="34" charset="0"/>
              </a:rPr>
              <a:t>user=alex</a:t>
            </a:r>
          </a:p>
        </p:txBody>
      </p:sp>
      <p:sp>
        <p:nvSpPr>
          <p:cNvPr id="122888" name="Line 8"/>
          <p:cNvSpPr>
            <a:spLocks noChangeShapeType="1"/>
          </p:cNvSpPr>
          <p:nvPr/>
        </p:nvSpPr>
        <p:spPr bwMode="auto">
          <a:xfrm>
            <a:off x="1669742" y="2261335"/>
            <a:ext cx="381000" cy="0"/>
          </a:xfrm>
          <a:prstGeom prst="line">
            <a:avLst/>
          </a:prstGeom>
          <a:noFill/>
          <a:ln w="190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22889" name="Line 9"/>
          <p:cNvSpPr>
            <a:spLocks noChangeShapeType="1"/>
          </p:cNvSpPr>
          <p:nvPr/>
        </p:nvSpPr>
        <p:spPr bwMode="auto">
          <a:xfrm>
            <a:off x="4260542" y="2261335"/>
            <a:ext cx="381000" cy="0"/>
          </a:xfrm>
          <a:prstGeom prst="line">
            <a:avLst/>
          </a:prstGeom>
          <a:noFill/>
          <a:ln w="190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22890" name="Line 10"/>
          <p:cNvSpPr>
            <a:spLocks noChangeShapeType="1"/>
          </p:cNvSpPr>
          <p:nvPr/>
        </p:nvSpPr>
        <p:spPr bwMode="auto">
          <a:xfrm>
            <a:off x="6546542" y="2261335"/>
            <a:ext cx="381000" cy="0"/>
          </a:xfrm>
          <a:prstGeom prst="line">
            <a:avLst/>
          </a:prstGeom>
          <a:noFill/>
          <a:ln w="190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22891" name="Text Box 11"/>
          <p:cNvSpPr txBox="1">
            <a:spLocks noChangeArrowheads="1"/>
          </p:cNvSpPr>
          <p:nvPr/>
        </p:nvSpPr>
        <p:spPr bwMode="auto">
          <a:xfrm>
            <a:off x="526742" y="1499335"/>
            <a:ext cx="1143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r>
              <a:rPr lang="en-US" altLang="en-US" sz="1800" b="1" i="1">
                <a:solidFill>
                  <a:srgbClr val="003366"/>
                </a:solidFill>
              </a:rPr>
              <a:t>protocol</a:t>
            </a:r>
          </a:p>
        </p:txBody>
      </p:sp>
      <p:sp>
        <p:nvSpPr>
          <p:cNvPr id="122892" name="Text Box 12"/>
          <p:cNvSpPr txBox="1">
            <a:spLocks noChangeArrowheads="1"/>
          </p:cNvSpPr>
          <p:nvPr/>
        </p:nvSpPr>
        <p:spPr bwMode="auto">
          <a:xfrm>
            <a:off x="2050742" y="1499335"/>
            <a:ext cx="1828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r>
              <a:rPr lang="en-US" altLang="en-US" sz="1800" b="1" i="1">
                <a:solidFill>
                  <a:srgbClr val="003366"/>
                </a:solidFill>
              </a:rPr>
              <a:t>host name</a:t>
            </a:r>
          </a:p>
        </p:txBody>
      </p:sp>
      <p:sp>
        <p:nvSpPr>
          <p:cNvPr id="122893" name="Text Box 13"/>
          <p:cNvSpPr txBox="1">
            <a:spLocks noChangeArrowheads="1"/>
          </p:cNvSpPr>
          <p:nvPr/>
        </p:nvSpPr>
        <p:spPr bwMode="auto">
          <a:xfrm>
            <a:off x="4641542" y="1499335"/>
            <a:ext cx="1524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r>
              <a:rPr lang="en-US" altLang="en-US" sz="1800" b="1" i="1">
                <a:solidFill>
                  <a:srgbClr val="003366"/>
                </a:solidFill>
              </a:rPr>
              <a:t>local info</a:t>
            </a:r>
          </a:p>
        </p:txBody>
      </p:sp>
      <p:sp>
        <p:nvSpPr>
          <p:cNvPr id="122894" name="Text Box 14"/>
          <p:cNvSpPr txBox="1">
            <a:spLocks noChangeArrowheads="1"/>
          </p:cNvSpPr>
          <p:nvPr/>
        </p:nvSpPr>
        <p:spPr bwMode="auto">
          <a:xfrm>
            <a:off x="7308542" y="1499335"/>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r>
              <a:rPr lang="en-US" altLang="en-US" sz="1800" b="1" i="1" dirty="0">
                <a:solidFill>
                  <a:srgbClr val="003366"/>
                </a:solidFill>
              </a:rPr>
              <a:t>query string</a:t>
            </a:r>
          </a:p>
        </p:txBody>
      </p:sp>
      <p:sp>
        <p:nvSpPr>
          <p:cNvPr id="122895" name="Rectangle 15"/>
          <p:cNvSpPr>
            <a:spLocks noChangeArrowheads="1"/>
          </p:cNvSpPr>
          <p:nvPr/>
        </p:nvSpPr>
        <p:spPr bwMode="auto">
          <a:xfrm>
            <a:off x="6927542" y="2032735"/>
            <a:ext cx="381000" cy="381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en-US" altLang="en-US" sz="1800">
                <a:latin typeface="Tahoma" pitchFamily="34" charset="0"/>
                <a:cs typeface="Tahoma" pitchFamily="34" charset="0"/>
              </a:rPr>
              <a:t>?</a:t>
            </a:r>
          </a:p>
        </p:txBody>
      </p:sp>
      <p:sp>
        <p:nvSpPr>
          <p:cNvPr id="122896" name="Text Box 16"/>
          <p:cNvSpPr txBox="1">
            <a:spLocks noChangeArrowheads="1"/>
          </p:cNvSpPr>
          <p:nvPr/>
        </p:nvSpPr>
        <p:spPr bwMode="auto">
          <a:xfrm>
            <a:off x="4412942" y="2566135"/>
            <a:ext cx="3435658" cy="3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r>
              <a:rPr lang="en-US" altLang="en-US" sz="1800" i="1" dirty="0">
                <a:solidFill>
                  <a:srgbClr val="003366"/>
                </a:solidFill>
              </a:rPr>
              <a:t>virtual directory + file name</a:t>
            </a:r>
          </a:p>
        </p:txBody>
      </p:sp>
      <p:pic>
        <p:nvPicPr>
          <p:cNvPr id="5" name="Picture 4">
            <a:extLst>
              <a:ext uri="{FF2B5EF4-FFF2-40B4-BE49-F238E27FC236}">
                <a16:creationId xmlns:a16="http://schemas.microsoft.com/office/drawing/2014/main" id="{F204ECB9-CB6A-45D3-8986-D8DDCEDF0F41}"/>
              </a:ext>
            </a:extLst>
          </p:cNvPr>
          <p:cNvPicPr>
            <a:picLocks noChangeAspect="1"/>
          </p:cNvPicPr>
          <p:nvPr/>
        </p:nvPicPr>
        <p:blipFill>
          <a:blip r:embed="rId2"/>
          <a:stretch>
            <a:fillRect/>
          </a:stretch>
        </p:blipFill>
        <p:spPr>
          <a:xfrm>
            <a:off x="399494" y="3048000"/>
            <a:ext cx="8348355" cy="1867738"/>
          </a:xfrm>
          <a:prstGeom prst="rect">
            <a:avLst/>
          </a:prstGeom>
          <a:ln>
            <a:noFill/>
          </a:ln>
          <a:effectLst>
            <a:outerShdw blurRad="292100" dist="139700" dir="2700000" algn="tl" rotWithShape="0">
              <a:srgbClr val="333333">
                <a:alpha val="65000"/>
              </a:srgbClr>
            </a:outerShdw>
          </a:effectLst>
        </p:spPr>
      </p:pic>
      <p:sp>
        <p:nvSpPr>
          <p:cNvPr id="122883" name="Rectangle 3"/>
          <p:cNvSpPr>
            <a:spLocks noChangeArrowheads="1"/>
          </p:cNvSpPr>
          <p:nvPr/>
        </p:nvSpPr>
        <p:spPr bwMode="auto">
          <a:xfrm>
            <a:off x="3962400" y="4953000"/>
            <a:ext cx="4870142" cy="1694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en-US" altLang="en-US" sz="1600" dirty="0"/>
          </a:p>
          <a:p>
            <a:r>
              <a:rPr lang="en-US" altLang="en-US" sz="1600" b="1" dirty="0">
                <a:solidFill>
                  <a:srgbClr val="FF3300"/>
                </a:solidFill>
                <a:latin typeface="Tahoma" pitchFamily="34" charset="0"/>
                <a:cs typeface="Tahoma" pitchFamily="34" charset="0"/>
              </a:rPr>
              <a:t>Uniform Resource Locator (URL)</a:t>
            </a:r>
            <a:r>
              <a:rPr lang="en-US" altLang="en-US" sz="1600" dirty="0">
                <a:solidFill>
                  <a:srgbClr val="FF3300"/>
                </a:solidFill>
                <a:latin typeface="Tahoma" pitchFamily="34" charset="0"/>
                <a:cs typeface="Tahoma" pitchFamily="34" charset="0"/>
              </a:rPr>
              <a:t> </a:t>
            </a:r>
          </a:p>
          <a:p>
            <a:pPr lvl="1"/>
            <a:r>
              <a:rPr lang="en-US" altLang="en-US" sz="1200" dirty="0">
                <a:latin typeface="Tahoma" pitchFamily="34" charset="0"/>
                <a:cs typeface="Tahoma" pitchFamily="34" charset="0"/>
              </a:rPr>
              <a:t>The address of a resource on the Internet. URL syntax is in the form </a:t>
            </a:r>
            <a:r>
              <a:rPr lang="en-US" altLang="en-US" sz="1200" b="1" i="1" dirty="0">
                <a:solidFill>
                  <a:srgbClr val="FF3300"/>
                </a:solidFill>
                <a:latin typeface="Tahoma" pitchFamily="34" charset="0"/>
                <a:cs typeface="Tahoma" pitchFamily="34" charset="0"/>
              </a:rPr>
              <a:t>protocol://host/localinfo</a:t>
            </a:r>
            <a:r>
              <a:rPr lang="en-US" altLang="en-US" sz="1200" dirty="0">
                <a:latin typeface="Tahoma" pitchFamily="34" charset="0"/>
                <a:cs typeface="Tahoma" pitchFamily="34" charset="0"/>
              </a:rPr>
              <a:t>, where protocol specifies the means of returning the object, such as </a:t>
            </a:r>
            <a:r>
              <a:rPr lang="en-US" altLang="en-US" sz="1200" b="1" dirty="0">
                <a:latin typeface="Tahoma" pitchFamily="34" charset="0"/>
                <a:cs typeface="Tahoma" pitchFamily="34" charset="0"/>
              </a:rPr>
              <a:t>Hypertext Transfer Protocol (HTTP)</a:t>
            </a:r>
            <a:r>
              <a:rPr lang="en-US" altLang="en-US" sz="1200" dirty="0">
                <a:latin typeface="Tahoma" pitchFamily="34" charset="0"/>
                <a:cs typeface="Tahoma" pitchFamily="34" charset="0"/>
              </a:rPr>
              <a:t> or</a:t>
            </a:r>
            <a:r>
              <a:rPr lang="en-US" altLang="en-US" sz="1200" b="1" dirty="0">
                <a:latin typeface="Tahoma" pitchFamily="34" charset="0"/>
                <a:cs typeface="Tahoma" pitchFamily="34" charset="0"/>
              </a:rPr>
              <a:t> File Transfer Protocol (FTP)</a:t>
            </a:r>
            <a:r>
              <a:rPr lang="en-US" altLang="en-US" sz="1200" dirty="0">
                <a:latin typeface="Tahoma" pitchFamily="34" charset="0"/>
                <a:cs typeface="Tahoma" pitchFamily="34" charset="0"/>
              </a:rPr>
              <a:t>. </a:t>
            </a:r>
          </a:p>
          <a:p>
            <a:endParaRPr lang="en-US" altLang="en-US" sz="1200" dirty="0">
              <a:latin typeface="Tahoma" pitchFamily="34" charset="0"/>
              <a:cs typeface="Tahoma" pitchFamily="34" charset="0"/>
            </a:endParaRPr>
          </a:p>
        </p:txBody>
      </p:sp>
    </p:spTree>
    <p:extLst>
      <p:ext uri="{BB962C8B-B14F-4D97-AF65-F5344CB8AC3E}">
        <p14:creationId xmlns:p14="http://schemas.microsoft.com/office/powerpoint/2010/main" val="2415707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457200" y="609600"/>
            <a:ext cx="8458200" cy="1143000"/>
          </a:xfrm>
        </p:spPr>
        <p:txBody>
          <a:bodyPr/>
          <a:lstStyle/>
          <a:p>
            <a:r>
              <a:rPr lang="en-US" altLang="en-US" dirty="0">
                <a:latin typeface="Arial" charset="0"/>
              </a:rPr>
              <a:t>Web Server – Cloud Services </a:t>
            </a:r>
          </a:p>
        </p:txBody>
      </p:sp>
      <p:pic>
        <p:nvPicPr>
          <p:cNvPr id="4" name="Picture 2">
            <a:extLst>
              <a:ext uri="{FF2B5EF4-FFF2-40B4-BE49-F238E27FC236}">
                <a16:creationId xmlns:a16="http://schemas.microsoft.com/office/drawing/2014/main" id="{D2640A5E-E5AD-40D7-B2F5-F34B315D5A4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2142308"/>
            <a:ext cx="7093136" cy="37338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a:extLst>
              <a:ext uri="{FF2B5EF4-FFF2-40B4-BE49-F238E27FC236}">
                <a16:creationId xmlns:a16="http://schemas.microsoft.com/office/drawing/2014/main" id="{7479555D-6F91-40A3-8E2D-CD4188FE5BF1}"/>
              </a:ext>
            </a:extLst>
          </p:cNvPr>
          <p:cNvSpPr txBox="1"/>
          <p:nvPr/>
        </p:nvSpPr>
        <p:spPr>
          <a:xfrm>
            <a:off x="762000" y="1762788"/>
            <a:ext cx="2311851" cy="369332"/>
          </a:xfrm>
          <a:prstGeom prst="rect">
            <a:avLst/>
          </a:prstGeom>
          <a:noFill/>
        </p:spPr>
        <p:txBody>
          <a:bodyPr wrap="none" rtlCol="0">
            <a:spAutoFit/>
          </a:bodyPr>
          <a:lstStyle/>
          <a:p>
            <a:r>
              <a:rPr lang="en-US" dirty="0"/>
              <a:t>Dediserve Example</a:t>
            </a:r>
          </a:p>
        </p:txBody>
      </p:sp>
    </p:spTree>
    <p:extLst>
      <p:ext uri="{BB962C8B-B14F-4D97-AF65-F5344CB8AC3E}">
        <p14:creationId xmlns:p14="http://schemas.microsoft.com/office/powerpoint/2010/main" val="1171326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457200" y="609600"/>
            <a:ext cx="8458200" cy="1143000"/>
          </a:xfrm>
        </p:spPr>
        <p:txBody>
          <a:bodyPr/>
          <a:lstStyle/>
          <a:p>
            <a:r>
              <a:rPr lang="en-US" altLang="en-US" dirty="0">
                <a:latin typeface="Arial" charset="0"/>
              </a:rPr>
              <a:t>MS Internet Information Server</a:t>
            </a:r>
          </a:p>
        </p:txBody>
      </p:sp>
      <p:pic>
        <p:nvPicPr>
          <p:cNvPr id="614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752600"/>
            <a:ext cx="4953000" cy="472308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86768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r>
              <a:rPr lang="en-US" altLang="en-US" dirty="0"/>
              <a:t>Hypertext &amp; Visual Browser</a:t>
            </a:r>
          </a:p>
        </p:txBody>
      </p:sp>
      <p:sp>
        <p:nvSpPr>
          <p:cNvPr id="129028" name="Rectangle 4"/>
          <p:cNvSpPr>
            <a:spLocks noChangeArrowheads="1"/>
          </p:cNvSpPr>
          <p:nvPr/>
        </p:nvSpPr>
        <p:spPr bwMode="auto">
          <a:xfrm>
            <a:off x="533401" y="1284652"/>
            <a:ext cx="2895600" cy="166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r>
              <a:rPr lang="en-US" altLang="en-US" sz="1800" b="1" dirty="0">
                <a:solidFill>
                  <a:srgbClr val="FF3300"/>
                </a:solidFill>
                <a:latin typeface="Tahoma" pitchFamily="34" charset="0"/>
                <a:cs typeface="Tahoma" pitchFamily="34" charset="0"/>
              </a:rPr>
              <a:t>hypertext</a:t>
            </a:r>
            <a:r>
              <a:rPr lang="en-US" altLang="en-US" sz="1200" dirty="0">
                <a:latin typeface="Tahoma" pitchFamily="34" charset="0"/>
                <a:cs typeface="Tahoma" pitchFamily="34" charset="0"/>
              </a:rPr>
              <a:t> </a:t>
            </a:r>
          </a:p>
          <a:p>
            <a:pPr lvl="1"/>
            <a:r>
              <a:rPr lang="en-US" altLang="en-US" sz="1400" dirty="0">
                <a:latin typeface="Tahoma" pitchFamily="34" charset="0"/>
                <a:cs typeface="Tahoma" pitchFamily="34" charset="0"/>
              </a:rPr>
              <a:t>A collection of documents containing cross-reference links that can be used </a:t>
            </a:r>
          </a:p>
          <a:p>
            <a:pPr lvl="1"/>
            <a:r>
              <a:rPr lang="en-US" altLang="en-US" sz="1400" dirty="0">
                <a:latin typeface="Tahoma" pitchFamily="34" charset="0"/>
                <a:cs typeface="Tahoma" pitchFamily="34" charset="0"/>
              </a:rPr>
              <a:t>interactively by a user to move immediately from one topic to another. </a:t>
            </a:r>
          </a:p>
        </p:txBody>
      </p:sp>
      <p:grpSp>
        <p:nvGrpSpPr>
          <p:cNvPr id="2" name="Group 1"/>
          <p:cNvGrpSpPr/>
          <p:nvPr/>
        </p:nvGrpSpPr>
        <p:grpSpPr>
          <a:xfrm>
            <a:off x="3506039" y="1570038"/>
            <a:ext cx="5562600" cy="3124200"/>
            <a:chOff x="2514600" y="3124200"/>
            <a:chExt cx="5562600" cy="3124200"/>
          </a:xfrm>
        </p:grpSpPr>
        <p:sp>
          <p:nvSpPr>
            <p:cNvPr id="129029" name="Rectangle 5"/>
            <p:cNvSpPr>
              <a:spLocks noChangeArrowheads="1"/>
            </p:cNvSpPr>
            <p:nvPr/>
          </p:nvSpPr>
          <p:spPr bwMode="auto">
            <a:xfrm>
              <a:off x="2514600" y="3124200"/>
              <a:ext cx="1371600" cy="1524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endParaRPr lang="en-US" altLang="en-US"/>
            </a:p>
          </p:txBody>
        </p:sp>
        <p:sp>
          <p:nvSpPr>
            <p:cNvPr id="129034" name="Text Box 10"/>
            <p:cNvSpPr txBox="1">
              <a:spLocks noChangeArrowheads="1"/>
            </p:cNvSpPr>
            <p:nvPr/>
          </p:nvSpPr>
          <p:spPr bwMode="auto">
            <a:xfrm>
              <a:off x="2819400" y="3200400"/>
              <a:ext cx="6794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1400" b="1">
                  <a:solidFill>
                    <a:srgbClr val="FF3300"/>
                  </a:solidFill>
                </a:rPr>
                <a:t>Page 1</a:t>
              </a:r>
            </a:p>
          </p:txBody>
        </p:sp>
        <p:sp>
          <p:nvSpPr>
            <p:cNvPr id="129035" name="Text Box 11"/>
            <p:cNvSpPr txBox="1">
              <a:spLocks noChangeArrowheads="1"/>
            </p:cNvSpPr>
            <p:nvPr/>
          </p:nvSpPr>
          <p:spPr bwMode="auto">
            <a:xfrm>
              <a:off x="2895600" y="3779838"/>
              <a:ext cx="59213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1200"/>
                <a:t>Page 3</a:t>
              </a:r>
            </a:p>
          </p:txBody>
        </p:sp>
        <p:sp>
          <p:nvSpPr>
            <p:cNvPr id="129036" name="Text Box 12"/>
            <p:cNvSpPr txBox="1">
              <a:spLocks noChangeArrowheads="1"/>
            </p:cNvSpPr>
            <p:nvPr/>
          </p:nvSpPr>
          <p:spPr bwMode="auto">
            <a:xfrm>
              <a:off x="2895600" y="4038600"/>
              <a:ext cx="5921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1200"/>
                <a:t>Page 2</a:t>
              </a:r>
            </a:p>
          </p:txBody>
        </p:sp>
        <p:sp>
          <p:nvSpPr>
            <p:cNvPr id="129037" name="Rectangle 13"/>
            <p:cNvSpPr>
              <a:spLocks noChangeArrowheads="1"/>
            </p:cNvSpPr>
            <p:nvPr/>
          </p:nvSpPr>
          <p:spPr bwMode="auto">
            <a:xfrm>
              <a:off x="4572000" y="4724400"/>
              <a:ext cx="1371600" cy="1524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endParaRPr lang="en-US" altLang="en-US"/>
            </a:p>
          </p:txBody>
        </p:sp>
        <p:sp>
          <p:nvSpPr>
            <p:cNvPr id="129038" name="Text Box 14"/>
            <p:cNvSpPr txBox="1">
              <a:spLocks noChangeArrowheads="1"/>
            </p:cNvSpPr>
            <p:nvPr/>
          </p:nvSpPr>
          <p:spPr bwMode="auto">
            <a:xfrm>
              <a:off x="4876800" y="4800600"/>
              <a:ext cx="6794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1400" b="1">
                  <a:solidFill>
                    <a:srgbClr val="FF3300"/>
                  </a:solidFill>
                </a:rPr>
                <a:t>Page 2</a:t>
              </a:r>
            </a:p>
          </p:txBody>
        </p:sp>
        <p:sp>
          <p:nvSpPr>
            <p:cNvPr id="129039" name="Text Box 15"/>
            <p:cNvSpPr txBox="1">
              <a:spLocks noChangeArrowheads="1"/>
            </p:cNvSpPr>
            <p:nvPr/>
          </p:nvSpPr>
          <p:spPr bwMode="auto">
            <a:xfrm>
              <a:off x="4953000" y="5257800"/>
              <a:ext cx="5921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1200"/>
                <a:t>Page 1</a:t>
              </a:r>
            </a:p>
          </p:txBody>
        </p:sp>
        <p:sp>
          <p:nvSpPr>
            <p:cNvPr id="129040" name="Text Box 16"/>
            <p:cNvSpPr txBox="1">
              <a:spLocks noChangeArrowheads="1"/>
            </p:cNvSpPr>
            <p:nvPr/>
          </p:nvSpPr>
          <p:spPr bwMode="auto">
            <a:xfrm>
              <a:off x="4953000" y="5516563"/>
              <a:ext cx="59213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1200"/>
                <a:t>Page 3</a:t>
              </a:r>
            </a:p>
          </p:txBody>
        </p:sp>
        <p:sp>
          <p:nvSpPr>
            <p:cNvPr id="129041" name="Rectangle 17"/>
            <p:cNvSpPr>
              <a:spLocks noChangeArrowheads="1"/>
            </p:cNvSpPr>
            <p:nvPr/>
          </p:nvSpPr>
          <p:spPr bwMode="auto">
            <a:xfrm>
              <a:off x="6705600" y="3124200"/>
              <a:ext cx="1371600" cy="1524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endParaRPr lang="en-US" altLang="en-US"/>
            </a:p>
          </p:txBody>
        </p:sp>
        <p:sp>
          <p:nvSpPr>
            <p:cNvPr id="129042" name="Text Box 18"/>
            <p:cNvSpPr txBox="1">
              <a:spLocks noChangeArrowheads="1"/>
            </p:cNvSpPr>
            <p:nvPr/>
          </p:nvSpPr>
          <p:spPr bwMode="auto">
            <a:xfrm>
              <a:off x="7010400" y="3200400"/>
              <a:ext cx="6794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1400" b="1">
                  <a:solidFill>
                    <a:srgbClr val="FF3300"/>
                  </a:solidFill>
                </a:rPr>
                <a:t>Page 3</a:t>
              </a:r>
            </a:p>
          </p:txBody>
        </p:sp>
        <p:sp>
          <p:nvSpPr>
            <p:cNvPr id="129043" name="Text Box 19"/>
            <p:cNvSpPr txBox="1">
              <a:spLocks noChangeArrowheads="1"/>
            </p:cNvSpPr>
            <p:nvPr/>
          </p:nvSpPr>
          <p:spPr bwMode="auto">
            <a:xfrm>
              <a:off x="7086600" y="3733800"/>
              <a:ext cx="5921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1200"/>
                <a:t>Page 1</a:t>
              </a:r>
            </a:p>
          </p:txBody>
        </p:sp>
        <p:sp>
          <p:nvSpPr>
            <p:cNvPr id="129044" name="Text Box 20"/>
            <p:cNvSpPr txBox="1">
              <a:spLocks noChangeArrowheads="1"/>
            </p:cNvSpPr>
            <p:nvPr/>
          </p:nvSpPr>
          <p:spPr bwMode="auto">
            <a:xfrm>
              <a:off x="7086600" y="3992563"/>
              <a:ext cx="59213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1200"/>
                <a:t>Page 2</a:t>
              </a:r>
            </a:p>
          </p:txBody>
        </p:sp>
        <p:sp>
          <p:nvSpPr>
            <p:cNvPr id="129045" name="Line 21"/>
            <p:cNvSpPr>
              <a:spLocks noChangeShapeType="1"/>
            </p:cNvSpPr>
            <p:nvPr/>
          </p:nvSpPr>
          <p:spPr bwMode="auto">
            <a:xfrm>
              <a:off x="3505200" y="3962400"/>
              <a:ext cx="3124200" cy="0"/>
            </a:xfrm>
            <a:prstGeom prst="line">
              <a:avLst/>
            </a:prstGeom>
            <a:noFill/>
            <a:ln w="190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cxnSp>
          <p:nvCxnSpPr>
            <p:cNvPr id="129046" name="AutoShape 22"/>
            <p:cNvCxnSpPr>
              <a:cxnSpLocks noChangeShapeType="1"/>
              <a:stCxn id="129036" idx="3"/>
              <a:endCxn id="129037" idx="1"/>
            </p:cNvCxnSpPr>
            <p:nvPr/>
          </p:nvCxnSpPr>
          <p:spPr bwMode="auto">
            <a:xfrm>
              <a:off x="3487738" y="4176713"/>
              <a:ext cx="1084262" cy="1309687"/>
            </a:xfrm>
            <a:prstGeom prst="bentConnector3">
              <a:avLst>
                <a:gd name="adj1" fmla="val 49926"/>
              </a:avLst>
            </a:prstGeom>
            <a:noFill/>
            <a:ln w="19050">
              <a:solidFill>
                <a:srgbClr val="FF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047" name="AutoShape 23"/>
            <p:cNvCxnSpPr>
              <a:cxnSpLocks noChangeShapeType="1"/>
              <a:stCxn id="129040" idx="3"/>
              <a:endCxn id="129041" idx="2"/>
            </p:cNvCxnSpPr>
            <p:nvPr/>
          </p:nvCxnSpPr>
          <p:spPr bwMode="auto">
            <a:xfrm flipV="1">
              <a:off x="5545138" y="4648200"/>
              <a:ext cx="1846262" cy="1006475"/>
            </a:xfrm>
            <a:prstGeom prst="bentConnector2">
              <a:avLst/>
            </a:prstGeom>
            <a:noFill/>
            <a:ln w="19050">
              <a:solidFill>
                <a:srgbClr val="FF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048" name="AutoShape 24"/>
            <p:cNvCxnSpPr>
              <a:cxnSpLocks noChangeShapeType="1"/>
              <a:stCxn id="129039" idx="1"/>
              <a:endCxn id="129029" idx="3"/>
            </p:cNvCxnSpPr>
            <p:nvPr/>
          </p:nvCxnSpPr>
          <p:spPr bwMode="auto">
            <a:xfrm rot="10800000">
              <a:off x="3886200" y="3886200"/>
              <a:ext cx="1066800" cy="1509713"/>
            </a:xfrm>
            <a:prstGeom prst="bentConnector3">
              <a:avLst>
                <a:gd name="adj1" fmla="val 50000"/>
              </a:avLst>
            </a:prstGeom>
            <a:noFill/>
            <a:ln w="19050">
              <a:solidFill>
                <a:srgbClr val="FF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049" name="AutoShape 25"/>
            <p:cNvCxnSpPr>
              <a:cxnSpLocks noChangeShapeType="1"/>
              <a:stCxn id="129043" idx="1"/>
            </p:cNvCxnSpPr>
            <p:nvPr/>
          </p:nvCxnSpPr>
          <p:spPr bwMode="auto">
            <a:xfrm rot="10800000">
              <a:off x="4038600" y="3306763"/>
              <a:ext cx="3048000" cy="565150"/>
            </a:xfrm>
            <a:prstGeom prst="bentConnector3">
              <a:avLst>
                <a:gd name="adj1" fmla="val 60569"/>
              </a:avLst>
            </a:prstGeom>
            <a:noFill/>
            <a:ln w="19050">
              <a:solidFill>
                <a:srgbClr val="FF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050" name="AutoShape 26"/>
            <p:cNvCxnSpPr>
              <a:cxnSpLocks noChangeShapeType="1"/>
              <a:stCxn id="129044" idx="1"/>
              <a:endCxn id="129037" idx="0"/>
            </p:cNvCxnSpPr>
            <p:nvPr/>
          </p:nvCxnSpPr>
          <p:spPr bwMode="auto">
            <a:xfrm rot="10800000" flipV="1">
              <a:off x="5257800" y="4130675"/>
              <a:ext cx="1828800" cy="593725"/>
            </a:xfrm>
            <a:prstGeom prst="bentConnector2">
              <a:avLst/>
            </a:prstGeom>
            <a:noFill/>
            <a:ln w="19050">
              <a:solidFill>
                <a:srgbClr val="FF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9051" name="Rectangle 27"/>
          <p:cNvSpPr>
            <a:spLocks noChangeArrowheads="1"/>
          </p:cNvSpPr>
          <p:nvPr/>
        </p:nvSpPr>
        <p:spPr bwMode="auto">
          <a:xfrm>
            <a:off x="990600" y="2863850"/>
            <a:ext cx="3124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r>
              <a:rPr lang="en-US" altLang="en-US" sz="1600" b="1" dirty="0">
                <a:latin typeface="Tahoma" pitchFamily="34" charset="0"/>
                <a:cs typeface="Tahoma" pitchFamily="34" charset="0"/>
              </a:rPr>
              <a:t>Tim Berners-Lee, 1989</a:t>
            </a:r>
            <a:endParaRPr lang="en-US" altLang="en-US" sz="1600" dirty="0">
              <a:latin typeface="Tahoma" pitchFamily="34" charset="0"/>
              <a:cs typeface="Tahoma" pitchFamily="34" charset="0"/>
            </a:endParaRPr>
          </a:p>
        </p:txBody>
      </p:sp>
      <p:sp>
        <p:nvSpPr>
          <p:cNvPr id="129052" name="Rectangle 28"/>
          <p:cNvSpPr>
            <a:spLocks noChangeArrowheads="1"/>
          </p:cNvSpPr>
          <p:nvPr/>
        </p:nvSpPr>
        <p:spPr bwMode="auto">
          <a:xfrm>
            <a:off x="4496639" y="5486400"/>
            <a:ext cx="3276600" cy="894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r>
              <a:rPr lang="en-US" altLang="en-US" sz="1200" dirty="0">
                <a:latin typeface="Tahoma" pitchFamily="34" charset="0"/>
                <a:cs typeface="Tahoma" pitchFamily="34" charset="0"/>
              </a:rPr>
              <a:t>First graphic web-browser (MOSAIC) and “mouse click” based hyperlinks</a:t>
            </a:r>
          </a:p>
          <a:p>
            <a:endParaRPr lang="en-US" altLang="en-US" sz="1200" dirty="0">
              <a:latin typeface="Tahoma" pitchFamily="34" charset="0"/>
              <a:cs typeface="Tahoma" pitchFamily="34" charset="0"/>
            </a:endParaRPr>
          </a:p>
          <a:p>
            <a:pPr lvl="1"/>
            <a:r>
              <a:rPr lang="en-US" altLang="en-US" sz="1600" b="1" dirty="0">
                <a:latin typeface="Tahoma" pitchFamily="34" charset="0"/>
                <a:cs typeface="Tahoma" pitchFamily="34" charset="0"/>
              </a:rPr>
              <a:t>Marc Andreessen, 1993</a:t>
            </a:r>
          </a:p>
        </p:txBody>
      </p:sp>
      <p:pic>
        <p:nvPicPr>
          <p:cNvPr id="3074" name="Picture 2" descr="NCSA Mosaic 2.7 for Unix"/>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967" y="3730955"/>
            <a:ext cx="3683603" cy="27166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9335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1219200" y="0"/>
            <a:ext cx="7696200" cy="1143000"/>
          </a:xfrm>
        </p:spPr>
        <p:txBody>
          <a:bodyPr/>
          <a:lstStyle/>
          <a:p>
            <a:pPr algn="r"/>
            <a:r>
              <a:rPr lang="en-US" altLang="en-US" dirty="0">
                <a:latin typeface="Arial" charset="0"/>
              </a:rPr>
              <a:t>Web Browsers Wars</a:t>
            </a:r>
          </a:p>
        </p:txBody>
      </p:sp>
      <p:pic>
        <p:nvPicPr>
          <p:cNvPr id="2050" name="Picture 2" descr="Top 10 Most Popular Internet Browsers (2000-2020) | Best Internet Browser -  YouTube">
            <a:extLst>
              <a:ext uri="{FF2B5EF4-FFF2-40B4-BE49-F238E27FC236}">
                <a16:creationId xmlns:a16="http://schemas.microsoft.com/office/drawing/2014/main" id="{381869C3-4B95-42FB-9041-FC9DE5076B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066800"/>
            <a:ext cx="6172200" cy="347186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6F947ED6-85B6-4A99-9BD2-303AC2646D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904999"/>
            <a:ext cx="6705600" cy="4583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1622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en-GB" altLang="en-US" dirty="0"/>
              <a:t>Examples</a:t>
            </a:r>
            <a:endParaRPr lang="en-US" altLang="en-US" dirty="0"/>
          </a:p>
        </p:txBody>
      </p:sp>
      <p:sp>
        <p:nvSpPr>
          <p:cNvPr id="123907" name="Rectangle 3"/>
          <p:cNvSpPr>
            <a:spLocks noGrp="1" noChangeArrowheads="1"/>
          </p:cNvSpPr>
          <p:nvPr>
            <p:ph type="body" idx="1"/>
          </p:nvPr>
        </p:nvSpPr>
        <p:spPr>
          <a:xfrm>
            <a:off x="1981200" y="1981200"/>
            <a:ext cx="6324600" cy="4114800"/>
          </a:xfrm>
        </p:spPr>
        <p:txBody>
          <a:bodyPr/>
          <a:lstStyle/>
          <a:p>
            <a:r>
              <a:rPr lang="en-US" altLang="en-US" dirty="0"/>
              <a:t>Development environment</a:t>
            </a:r>
          </a:p>
          <a:p>
            <a:pPr lvl="1"/>
            <a:r>
              <a:rPr lang="en-US" altLang="en-US" dirty="0"/>
              <a:t>VS Studio</a:t>
            </a:r>
          </a:p>
          <a:p>
            <a:pPr lvl="1"/>
            <a:r>
              <a:rPr lang="en-US" altLang="en-US" dirty="0"/>
              <a:t>VS Code</a:t>
            </a:r>
          </a:p>
          <a:p>
            <a:pPr lvl="2"/>
            <a:r>
              <a:rPr lang="en-US" altLang="en-US" dirty="0"/>
              <a:t>Plugins: </a:t>
            </a:r>
          </a:p>
          <a:p>
            <a:pPr lvl="3"/>
            <a:r>
              <a:rPr lang="en-US" altLang="en-US" dirty="0"/>
              <a:t>Live Server</a:t>
            </a:r>
          </a:p>
          <a:p>
            <a:pPr lvl="3"/>
            <a:r>
              <a:rPr lang="en-US" dirty="0"/>
              <a:t>Auto Rename Tag</a:t>
            </a:r>
          </a:p>
          <a:p>
            <a:pPr lvl="3"/>
            <a:r>
              <a:rPr lang="en-US" dirty="0"/>
              <a:t>htmltagwrap</a:t>
            </a:r>
            <a:endParaRPr lang="en-US" altLang="en-US" dirty="0"/>
          </a:p>
          <a:p>
            <a:r>
              <a:rPr lang="en-US" altLang="en-US" dirty="0"/>
              <a:t>Simple HTML examples</a:t>
            </a:r>
          </a:p>
          <a:p>
            <a:pPr lvl="1"/>
            <a:r>
              <a:rPr lang="en-US" altLang="en-US" dirty="0"/>
              <a:t>html, css, js</a:t>
            </a:r>
          </a:p>
          <a:p>
            <a:pPr lvl="1"/>
            <a:r>
              <a:rPr lang="en-US" altLang="en-US" dirty="0"/>
              <a:t>CSI, CDN</a:t>
            </a:r>
            <a:endParaRPr lang="en-GB" altLang="en-US" dirty="0"/>
          </a:p>
        </p:txBody>
      </p:sp>
    </p:spTree>
    <p:extLst>
      <p:ext uri="{BB962C8B-B14F-4D97-AF65-F5344CB8AC3E}">
        <p14:creationId xmlns:p14="http://schemas.microsoft.com/office/powerpoint/2010/main" val="3678556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4612</TotalTime>
  <Words>595</Words>
  <Application>Microsoft Office PowerPoint</Application>
  <PresentationFormat>On-screen Show (4:3)</PresentationFormat>
  <Paragraphs>102</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Arial</vt:lpstr>
      <vt:lpstr>Lucida Sans Unicode</vt:lpstr>
      <vt:lpstr>Merriweather</vt:lpstr>
      <vt:lpstr>Tahoma</vt:lpstr>
      <vt:lpstr>Verdana</vt:lpstr>
      <vt:lpstr>Wingdings 2</vt:lpstr>
      <vt:lpstr>Wingdings 3</vt:lpstr>
      <vt:lpstr>Concourse</vt:lpstr>
      <vt:lpstr>Web Technology</vt:lpstr>
      <vt:lpstr>Local-Area Network 1</vt:lpstr>
      <vt:lpstr>Local-Area Network 2</vt:lpstr>
      <vt:lpstr>Wide-Area Network 1</vt:lpstr>
      <vt:lpstr>First Web Site</vt:lpstr>
      <vt:lpstr>Wide-Area Network 2</vt:lpstr>
      <vt:lpstr>Wide-Area Network 3</vt:lpstr>
      <vt:lpstr>TCP/IP</vt:lpstr>
      <vt:lpstr>Domain Name Service</vt:lpstr>
      <vt:lpstr>Uniform Resource Locator</vt:lpstr>
      <vt:lpstr>Web Server – Cloud Services </vt:lpstr>
      <vt:lpstr>MS Internet Information Server</vt:lpstr>
      <vt:lpstr>Hypertext &amp; Visual Browser</vt:lpstr>
      <vt:lpstr>Web Browsers Wars</vt:lpstr>
      <vt:lpstr>Examples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Technology</dc:title>
  <dc:creator>Alex Keselman</dc:creator>
  <cp:lastModifiedBy>אלכסנדר קסלמן</cp:lastModifiedBy>
  <cp:revision>65</cp:revision>
  <dcterms:created xsi:type="dcterms:W3CDTF">2006-08-16T00:00:00Z</dcterms:created>
  <dcterms:modified xsi:type="dcterms:W3CDTF">2021-03-07T06:37:36Z</dcterms:modified>
</cp:coreProperties>
</file>