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95" r:id="rId3"/>
    <p:sldId id="300" r:id="rId4"/>
    <p:sldId id="302" r:id="rId5"/>
    <p:sldId id="303" r:id="rId6"/>
    <p:sldId id="287" r:id="rId7"/>
    <p:sldId id="304" r:id="rId8"/>
    <p:sldId id="288" r:id="rId9"/>
    <p:sldId id="289" r:id="rId10"/>
    <p:sldId id="290" r:id="rId11"/>
    <p:sldId id="305" r:id="rId12"/>
    <p:sldId id="306" r:id="rId13"/>
    <p:sldId id="307" r:id="rId14"/>
    <p:sldId id="311" r:id="rId15"/>
    <p:sldId id="308" r:id="rId16"/>
    <p:sldId id="309" r:id="rId17"/>
    <p:sldId id="285" r:id="rId18"/>
    <p:sldId id="310" r:id="rId19"/>
    <p:sldId id="31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98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3/3/2021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whatis/whatis_fullstack.asp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ecma-international.org/" TargetMode="External"/><Relationship Id="rId4" Type="http://schemas.openxmlformats.org/officeDocument/2006/relationships/hyperlink" Target="https://www.w3schools.com/js/js_versions.asp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mozilla.org/en-US/docs/Web/JavaScript/Guide/Expressions_and_Operators" TargetMode="External"/><Relationship Id="rId3" Type="http://schemas.openxmlformats.org/officeDocument/2006/relationships/image" Target="../media/image9.png"/><Relationship Id="rId7" Type="http://schemas.openxmlformats.org/officeDocument/2006/relationships/hyperlink" Target="https://www.w3schools.com/jsref/jsref_operators.asp" TargetMode="Externa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_selectors.asp" TargetMode="External"/><Relationship Id="rId2" Type="http://schemas.openxmlformats.org/officeDocument/2006/relationships/hyperlink" Target="https://www.w3schools.com/jsref/dom_obj_document.as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71600" y="457200"/>
            <a:ext cx="7467600" cy="1143000"/>
          </a:xfrm>
        </p:spPr>
        <p:txBody>
          <a:bodyPr/>
          <a:lstStyle/>
          <a:p>
            <a:r>
              <a:rPr lang="en-US" altLang="en-US" sz="6000">
                <a:latin typeface="Arial" charset="0"/>
              </a:rPr>
              <a:t>Web Technology</a:t>
            </a: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0" y="2286000"/>
            <a:ext cx="5105400" cy="762000"/>
          </a:xfrm>
        </p:spPr>
        <p:txBody>
          <a:bodyPr>
            <a:normAutofit fontScale="55000" lnSpcReduction="20000"/>
          </a:bodyPr>
          <a:lstStyle/>
          <a:p>
            <a:r>
              <a:rPr lang="en-US" altLang="en-US" sz="3600" dirty="0"/>
              <a:t>Part 3:  </a:t>
            </a:r>
          </a:p>
          <a:p>
            <a:r>
              <a:rPr lang="en-US" altLang="en-US" sz="3600" b="1" dirty="0">
                <a:solidFill>
                  <a:srgbClr val="003366"/>
                </a:solidFill>
              </a:rPr>
              <a:t>Introduction to JavaScript Language </a:t>
            </a:r>
            <a:endParaRPr kumimoji="0" lang="en-AU" altLang="en-US" sz="3600" b="1" dirty="0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0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Client and Server-side scripts</a:t>
            </a:r>
          </a:p>
        </p:txBody>
      </p:sp>
      <p:graphicFrame>
        <p:nvGraphicFramePr>
          <p:cNvPr id="1402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347170"/>
              </p:ext>
            </p:extLst>
          </p:nvPr>
        </p:nvGraphicFramePr>
        <p:xfrm>
          <a:off x="6172200" y="2057400"/>
          <a:ext cx="1995487" cy="362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995058" imgH="3621603" progId="Photoshop.Image.5">
                  <p:embed/>
                </p:oleObj>
              </mc:Choice>
              <mc:Fallback>
                <p:oleObj name="Image" r:id="rId2" imgW="1995058" imgH="3621603" progId="Photoshop.Image.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057400"/>
                        <a:ext cx="1995487" cy="362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4" name="Text Box 6"/>
          <p:cNvSpPr txBox="1">
            <a:spLocks noChangeArrowheads="1"/>
          </p:cNvSpPr>
          <p:nvPr/>
        </p:nvSpPr>
        <p:spPr bwMode="auto">
          <a:xfrm>
            <a:off x="1004887" y="2057400"/>
            <a:ext cx="3948113" cy="894733"/>
          </a:xfrm>
          <a:prstGeom prst="rect">
            <a:avLst/>
          </a:prstGeom>
          <a:solidFill>
            <a:schemeClr val="bg2"/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algn="ctr"/>
            <a:r>
              <a:rPr lang="en-US" altLang="en-US" sz="3200" b="1" dirty="0"/>
              <a:t>server-side script</a:t>
            </a:r>
          </a:p>
          <a:p>
            <a:pPr algn="ctr"/>
            <a:r>
              <a:rPr lang="en-US" altLang="en-US" sz="2000" b="1" dirty="0">
                <a:solidFill>
                  <a:srgbClr val="C00000"/>
                </a:solidFill>
              </a:rPr>
              <a:t>php, asp, aspx, </a:t>
            </a:r>
            <a:r>
              <a:rPr lang="en-US" altLang="en-US" sz="2000" b="1" dirty="0" err="1">
                <a:solidFill>
                  <a:srgbClr val="C00000"/>
                </a:solidFill>
              </a:rPr>
              <a:t>nodeJS</a:t>
            </a:r>
            <a:endParaRPr lang="en-US" altLang="en-US" sz="2000" b="1" dirty="0">
              <a:solidFill>
                <a:srgbClr val="C00000"/>
              </a:solidFill>
            </a:endParaRPr>
          </a:p>
        </p:txBody>
      </p:sp>
      <p:sp>
        <p:nvSpPr>
          <p:cNvPr id="140295" name="Text Box 7"/>
          <p:cNvSpPr txBox="1">
            <a:spLocks noChangeArrowheads="1"/>
          </p:cNvSpPr>
          <p:nvPr/>
        </p:nvSpPr>
        <p:spPr bwMode="auto">
          <a:xfrm>
            <a:off x="1004887" y="3333133"/>
            <a:ext cx="3948113" cy="894733"/>
          </a:xfrm>
          <a:prstGeom prst="rect">
            <a:avLst/>
          </a:prstGeom>
          <a:solidFill>
            <a:schemeClr val="bg2"/>
          </a:solidFill>
          <a:ln w="12700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algn="ctr"/>
            <a:r>
              <a:rPr lang="en-US" altLang="en-US" sz="3200" b="1" dirty="0"/>
              <a:t>client-side script</a:t>
            </a:r>
          </a:p>
          <a:p>
            <a:pPr algn="ctr"/>
            <a:r>
              <a:rPr lang="en-US" altLang="en-US" sz="2000" b="1" dirty="0">
                <a:solidFill>
                  <a:srgbClr val="C00000"/>
                </a:solidFill>
              </a:rPr>
              <a:t>vbs, js</a:t>
            </a:r>
          </a:p>
        </p:txBody>
      </p:sp>
      <p:sp>
        <p:nvSpPr>
          <p:cNvPr id="140297" name="Text Box 9"/>
          <p:cNvSpPr txBox="1">
            <a:spLocks noChangeArrowheads="1"/>
          </p:cNvSpPr>
          <p:nvPr/>
        </p:nvSpPr>
        <p:spPr bwMode="auto">
          <a:xfrm>
            <a:off x="2209800" y="4780933"/>
            <a:ext cx="2743200" cy="592138"/>
          </a:xfrm>
          <a:prstGeom prst="rect">
            <a:avLst/>
          </a:prstGeom>
          <a:solidFill>
            <a:schemeClr val="bg2"/>
          </a:solidFill>
          <a:ln w="127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/>
            <a:r>
              <a:rPr lang="en-US" altLang="en-US" sz="3200" b="1"/>
              <a:t>HTML</a:t>
            </a:r>
          </a:p>
        </p:txBody>
      </p:sp>
      <p:sp>
        <p:nvSpPr>
          <p:cNvPr id="140298" name="Line 10"/>
          <p:cNvSpPr>
            <a:spLocks noChangeShapeType="1"/>
          </p:cNvSpPr>
          <p:nvPr/>
        </p:nvSpPr>
        <p:spPr bwMode="auto">
          <a:xfrm>
            <a:off x="5029200" y="2647333"/>
            <a:ext cx="1143000" cy="0"/>
          </a:xfrm>
          <a:prstGeom prst="line">
            <a:avLst/>
          </a:prstGeom>
          <a:noFill/>
          <a:ln w="88900">
            <a:solidFill>
              <a:srgbClr val="FFCC99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GB"/>
          </a:p>
        </p:txBody>
      </p:sp>
      <p:sp>
        <p:nvSpPr>
          <p:cNvPr id="140299" name="Line 11"/>
          <p:cNvSpPr>
            <a:spLocks noChangeShapeType="1"/>
          </p:cNvSpPr>
          <p:nvPr/>
        </p:nvSpPr>
        <p:spPr bwMode="auto">
          <a:xfrm>
            <a:off x="5029200" y="3485533"/>
            <a:ext cx="1143000" cy="0"/>
          </a:xfrm>
          <a:prstGeom prst="line">
            <a:avLst/>
          </a:prstGeom>
          <a:noFill/>
          <a:ln w="88900">
            <a:solidFill>
              <a:srgbClr val="FFCC99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GB"/>
          </a:p>
        </p:txBody>
      </p:sp>
      <p:sp>
        <p:nvSpPr>
          <p:cNvPr id="140300" name="Line 12"/>
          <p:cNvSpPr>
            <a:spLocks noChangeShapeType="1"/>
          </p:cNvSpPr>
          <p:nvPr/>
        </p:nvSpPr>
        <p:spPr bwMode="auto">
          <a:xfrm>
            <a:off x="5029200" y="5238133"/>
            <a:ext cx="1143000" cy="0"/>
          </a:xfrm>
          <a:prstGeom prst="line">
            <a:avLst/>
          </a:prstGeom>
          <a:noFill/>
          <a:ln w="88900">
            <a:solidFill>
              <a:srgbClr val="FFCC99"/>
            </a:solidFill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74FD59-9193-4CF3-B4A8-7A79E2AB5DC7}"/>
              </a:ext>
            </a:extLst>
          </p:cNvPr>
          <p:cNvSpPr txBox="1"/>
          <p:nvPr/>
        </p:nvSpPr>
        <p:spPr>
          <a:xfrm>
            <a:off x="928687" y="3024920"/>
            <a:ext cx="126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 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CF77D5-618A-41CB-BE9B-1EB86EE2EF17}"/>
              </a:ext>
            </a:extLst>
          </p:cNvPr>
          <p:cNvSpPr txBox="1"/>
          <p:nvPr/>
        </p:nvSpPr>
        <p:spPr>
          <a:xfrm>
            <a:off x="928687" y="1746705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 End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CFF0B2-9BE1-4E54-AC85-4194E1DC70D4}"/>
              </a:ext>
            </a:extLst>
          </p:cNvPr>
          <p:cNvSpPr txBox="1"/>
          <p:nvPr/>
        </p:nvSpPr>
        <p:spPr>
          <a:xfrm>
            <a:off x="3733800" y="6179750"/>
            <a:ext cx="46494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4"/>
              </a:rPr>
              <a:t>https://www.w3schools.com/whatis/whatis_fullstack.asp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63134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C87ED9-3C74-4BE2-9250-37DDA5F06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example 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8160C0-D5E2-4F73-88C3-6CD2B4D49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2057400"/>
            <a:ext cx="3829050" cy="364807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F0AEF0-6CDE-4BE6-9172-0E2D2A3D88C6}"/>
              </a:ext>
            </a:extLst>
          </p:cNvPr>
          <p:cNvCxnSpPr/>
          <p:nvPr/>
        </p:nvCxnSpPr>
        <p:spPr>
          <a:xfrm>
            <a:off x="1447800" y="2895600"/>
            <a:ext cx="664845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19DB1E-11BA-4FAB-8BBF-3B0D6499BA27}"/>
              </a:ext>
            </a:extLst>
          </p:cNvPr>
          <p:cNvCxnSpPr/>
          <p:nvPr/>
        </p:nvCxnSpPr>
        <p:spPr>
          <a:xfrm>
            <a:off x="1428750" y="3962400"/>
            <a:ext cx="664845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F18FABE-3D3B-4B14-AB47-78EABE76070D}"/>
              </a:ext>
            </a:extLst>
          </p:cNvPr>
          <p:cNvCxnSpPr/>
          <p:nvPr/>
        </p:nvCxnSpPr>
        <p:spPr>
          <a:xfrm>
            <a:off x="1428750" y="4572000"/>
            <a:ext cx="664845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B421EB4-2F38-4DEA-80AF-56E30A2F14EA}"/>
              </a:ext>
            </a:extLst>
          </p:cNvPr>
          <p:cNvSpPr txBox="1"/>
          <p:nvPr/>
        </p:nvSpPr>
        <p:spPr>
          <a:xfrm>
            <a:off x="1421167" y="3244334"/>
            <a:ext cx="174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Style segment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2BB6EE-6D6C-4D4A-95B6-DF268018CA0C}"/>
              </a:ext>
            </a:extLst>
          </p:cNvPr>
          <p:cNvSpPr txBox="1"/>
          <p:nvPr/>
        </p:nvSpPr>
        <p:spPr>
          <a:xfrm>
            <a:off x="1417425" y="4114800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Script segment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CED623-6407-4945-B9B0-73CF2DC40E72}"/>
              </a:ext>
            </a:extLst>
          </p:cNvPr>
          <p:cNvSpPr txBox="1"/>
          <p:nvPr/>
        </p:nvSpPr>
        <p:spPr>
          <a:xfrm>
            <a:off x="4191000" y="1657905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1.html</a:t>
            </a:r>
          </a:p>
        </p:txBody>
      </p:sp>
    </p:spTree>
    <p:extLst>
      <p:ext uri="{BB962C8B-B14F-4D97-AF65-F5344CB8AC3E}">
        <p14:creationId xmlns:p14="http://schemas.microsoft.com/office/powerpoint/2010/main" val="3303659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C87ED9-3C74-4BE2-9250-37DDA5F06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example 2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AAA884F-ED79-4DA8-B7DD-62C8CA279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05680"/>
            <a:ext cx="3933825" cy="23431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969F772-3F04-41C3-B1C1-FDD818410D02}"/>
              </a:ext>
            </a:extLst>
          </p:cNvPr>
          <p:cNvSpPr txBox="1"/>
          <p:nvPr/>
        </p:nvSpPr>
        <p:spPr>
          <a:xfrm>
            <a:off x="838200" y="2036348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2FA814-9D1D-4542-B945-C82BADA9E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05680"/>
            <a:ext cx="1895475" cy="666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873FAB-79BD-4B76-B175-FC6756428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6455" y="4463080"/>
            <a:ext cx="3371850" cy="28575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65F833-BE6C-47DC-A6C2-08AD3969A308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4310340" y="2739055"/>
            <a:ext cx="1785660" cy="53754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F805383-6450-4BD5-8E2A-C3CB982F7B8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971800" y="3645932"/>
            <a:ext cx="2324655" cy="96002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97D08FB-593F-4FD9-BBFA-32F6D091CA6D}"/>
              </a:ext>
            </a:extLst>
          </p:cNvPr>
          <p:cNvSpPr txBox="1"/>
          <p:nvPr/>
        </p:nvSpPr>
        <p:spPr>
          <a:xfrm>
            <a:off x="6019800" y="2060368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2.css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0F3C32-7DFA-46BD-955A-2E9AF9D7FB56}"/>
              </a:ext>
            </a:extLst>
          </p:cNvPr>
          <p:cNvSpPr txBox="1"/>
          <p:nvPr/>
        </p:nvSpPr>
        <p:spPr>
          <a:xfrm>
            <a:off x="5230427" y="4093748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2.js</a:t>
            </a:r>
          </a:p>
        </p:txBody>
      </p:sp>
    </p:spTree>
    <p:extLst>
      <p:ext uri="{BB962C8B-B14F-4D97-AF65-F5344CB8AC3E}">
        <p14:creationId xmlns:p14="http://schemas.microsoft.com/office/powerpoint/2010/main" val="437871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C87ED9-3C74-4BE2-9250-37DDA5F06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JavaScript – History and Versions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474C84DD-B823-4241-8CC7-51BD72CB0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992" y="1409169"/>
            <a:ext cx="3872260" cy="14779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332D4D86-2A29-492F-B759-9FBBF0BD3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54" y="2793414"/>
            <a:ext cx="4011967" cy="37597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24532754-9BB7-43A2-B9B8-AFA8FB4C5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79108"/>
            <a:ext cx="3708647" cy="1364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altLang="en-US" b="1" dirty="0">
                <a:solidFill>
                  <a:schemeClr val="accent1"/>
                </a:solidFill>
              </a:rPr>
              <a:t>Developed in 10 days in May 1995 by Brendan Eich</a:t>
            </a:r>
            <a:r>
              <a:rPr lang="en-US" altLang="en-US" b="1" dirty="0">
                <a:solidFill>
                  <a:schemeClr val="accent1"/>
                </a:solidFill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en-US" b="1" dirty="0">
                <a:solidFill>
                  <a:schemeClr val="accent1"/>
                </a:solidFill>
              </a:rPr>
              <a:t>ECMA standard – 1997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en-US" b="1" dirty="0">
                <a:solidFill>
                  <a:schemeClr val="accent1"/>
                </a:solidFill>
              </a:rPr>
              <a:t>Ryan Dahl – NodeJS, 2010</a:t>
            </a:r>
          </a:p>
          <a:p>
            <a:pPr lvl="1">
              <a:buFont typeface="Wingdings" pitchFamily="2" charset="2"/>
              <a:buChar char="ü"/>
            </a:pPr>
            <a:endParaRPr lang="en-US" altLang="en-US" sz="1050" b="1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BDC605-CDAF-4E5E-B78A-A67D08F9B9AC}"/>
              </a:ext>
            </a:extLst>
          </p:cNvPr>
          <p:cNvSpPr txBox="1"/>
          <p:nvPr/>
        </p:nvSpPr>
        <p:spPr>
          <a:xfrm>
            <a:off x="4724400" y="6337635"/>
            <a:ext cx="3814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4"/>
              </a:rPr>
              <a:t>https://www.w3schools.com/js/js_versions.asp</a:t>
            </a:r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761B65-B459-4363-9667-5FCC5286C929}"/>
              </a:ext>
            </a:extLst>
          </p:cNvPr>
          <p:cNvSpPr txBox="1"/>
          <p:nvPr/>
        </p:nvSpPr>
        <p:spPr>
          <a:xfrm>
            <a:off x="4724400" y="6096000"/>
            <a:ext cx="38144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100" dirty="0">
                <a:solidFill>
                  <a:schemeClr val="accent1"/>
                </a:solidFill>
                <a:hlinkClick r:id="rId5"/>
              </a:rPr>
              <a:t>European Computers Manufacturers Association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C4FDB5-3333-47DF-8D8F-362B7839E131}"/>
              </a:ext>
            </a:extLst>
          </p:cNvPr>
          <p:cNvSpPr/>
          <p:nvPr/>
        </p:nvSpPr>
        <p:spPr>
          <a:xfrm>
            <a:off x="5181600" y="3728739"/>
            <a:ext cx="1828800" cy="2616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Web browser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FADD37-1A8B-40C8-A773-74099780969B}"/>
              </a:ext>
            </a:extLst>
          </p:cNvPr>
          <p:cNvSpPr/>
          <p:nvPr/>
        </p:nvSpPr>
        <p:spPr>
          <a:xfrm>
            <a:off x="5181600" y="4287314"/>
            <a:ext cx="1828800" cy="2616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Web server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1CF667-C7A0-496E-91E9-64D4D5D199F2}"/>
              </a:ext>
            </a:extLst>
          </p:cNvPr>
          <p:cNvSpPr/>
          <p:nvPr/>
        </p:nvSpPr>
        <p:spPr>
          <a:xfrm>
            <a:off x="5181600" y="4596856"/>
            <a:ext cx="1828800" cy="2616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Desktop app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593C54-8833-45F1-987F-1A9A8C88A267}"/>
              </a:ext>
            </a:extLst>
          </p:cNvPr>
          <p:cNvSpPr/>
          <p:nvPr/>
        </p:nvSpPr>
        <p:spPr>
          <a:xfrm>
            <a:off x="5181600" y="4905932"/>
            <a:ext cx="1828800" cy="2616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Mobile app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42615C-4275-4A8A-9808-8580DCB073FB}"/>
              </a:ext>
            </a:extLst>
          </p:cNvPr>
          <p:cNvSpPr/>
          <p:nvPr/>
        </p:nvSpPr>
        <p:spPr>
          <a:xfrm>
            <a:off x="5029200" y="3601514"/>
            <a:ext cx="2971800" cy="506028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FBE667-16FC-42EE-9983-C7CC3F3BDA38}"/>
              </a:ext>
            </a:extLst>
          </p:cNvPr>
          <p:cNvSpPr/>
          <p:nvPr/>
        </p:nvSpPr>
        <p:spPr>
          <a:xfrm>
            <a:off x="4953000" y="3505200"/>
            <a:ext cx="3352800" cy="1772713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20078A-46A7-408B-AA7D-5716EC01F6A8}"/>
              </a:ext>
            </a:extLst>
          </p:cNvPr>
          <p:cNvSpPr txBox="1"/>
          <p:nvPr/>
        </p:nvSpPr>
        <p:spPr>
          <a:xfrm>
            <a:off x="7204299" y="3677714"/>
            <a:ext cx="713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ES5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77FC6A-4533-4501-ACBA-97851E742BC6}"/>
              </a:ext>
            </a:extLst>
          </p:cNvPr>
          <p:cNvSpPr txBox="1"/>
          <p:nvPr/>
        </p:nvSpPr>
        <p:spPr>
          <a:xfrm>
            <a:off x="7213604" y="4477813"/>
            <a:ext cx="713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ES6</a:t>
            </a:r>
          </a:p>
        </p:txBody>
      </p:sp>
    </p:spTree>
    <p:extLst>
      <p:ext uri="{BB962C8B-B14F-4D97-AF65-F5344CB8AC3E}">
        <p14:creationId xmlns:p14="http://schemas.microsoft.com/office/powerpoint/2010/main" val="2000788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609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Lexical Structure and Variables</a:t>
            </a:r>
          </a:p>
        </p:txBody>
      </p:sp>
      <p:sp>
        <p:nvSpPr>
          <p:cNvPr id="209924" name="Rectangle 4"/>
          <p:cNvSpPr>
            <a:spLocks noChangeArrowheads="1"/>
          </p:cNvSpPr>
          <p:nvPr/>
        </p:nvSpPr>
        <p:spPr bwMode="auto">
          <a:xfrm>
            <a:off x="1359437" y="1845014"/>
            <a:ext cx="5334000" cy="4403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000" dirty="0">
                <a:solidFill>
                  <a:srgbClr val="000099"/>
                </a:solidFill>
              </a:rPr>
              <a:t> Case Sensitivity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000" dirty="0">
                <a:solidFill>
                  <a:srgbClr val="000099"/>
                </a:solidFill>
              </a:rPr>
              <a:t> Comments </a:t>
            </a:r>
            <a:endParaRPr lang="en-US" altLang="en-US" sz="2000" dirty="0">
              <a:solidFill>
                <a:schemeClr val="accent1"/>
              </a:solidFill>
            </a:endParaRPr>
          </a:p>
          <a:p>
            <a:pPr lvl="1">
              <a:buFont typeface="Wingdings" pitchFamily="2" charset="2"/>
              <a:buChar char="ü"/>
            </a:pPr>
            <a:r>
              <a:rPr lang="en-US" altLang="en-US" sz="2000" dirty="0">
                <a:solidFill>
                  <a:schemeClr val="accent1"/>
                </a:solidFill>
              </a:rPr>
              <a:t> // 1-line comments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2000" dirty="0">
                <a:solidFill>
                  <a:schemeClr val="accent1"/>
                </a:solidFill>
              </a:rPr>
              <a:t> /* multiline comments */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000" dirty="0">
                <a:solidFill>
                  <a:srgbClr val="000099"/>
                </a:solidFill>
              </a:rPr>
              <a:t> Literals </a:t>
            </a:r>
            <a:endParaRPr lang="en-US" altLang="en-US" sz="2000" dirty="0">
              <a:solidFill>
                <a:schemeClr val="accent1"/>
              </a:solidFill>
            </a:endParaRPr>
          </a:p>
          <a:p>
            <a:pPr lvl="1">
              <a:buFont typeface="Wingdings" pitchFamily="2" charset="2"/>
              <a:buChar char="ü"/>
            </a:pPr>
            <a:r>
              <a:rPr lang="en-US" altLang="en-US" sz="2000" dirty="0">
                <a:solidFill>
                  <a:schemeClr val="accent1"/>
                </a:solidFill>
              </a:rPr>
              <a:t> 12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2000" dirty="0">
                <a:solidFill>
                  <a:schemeClr val="accent1"/>
                </a:solidFill>
              </a:rPr>
              <a:t> 1.2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2000" dirty="0">
                <a:solidFill>
                  <a:schemeClr val="accent1"/>
                </a:solidFill>
              </a:rPr>
              <a:t> “Hello”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2000" dirty="0">
                <a:solidFill>
                  <a:schemeClr val="accent1"/>
                </a:solidFill>
              </a:rPr>
              <a:t> true, false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2000" dirty="0">
                <a:solidFill>
                  <a:schemeClr val="accent1"/>
                </a:solidFill>
              </a:rPr>
              <a:t> null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2000" dirty="0">
                <a:solidFill>
                  <a:schemeClr val="accent1"/>
                </a:solidFill>
              </a:rPr>
              <a:t> [1,2,3]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000" dirty="0">
                <a:solidFill>
                  <a:srgbClr val="000099"/>
                </a:solidFill>
              </a:rPr>
              <a:t> Identifiers</a:t>
            </a:r>
            <a:endParaRPr lang="en-US" altLang="en-US" sz="2000" dirty="0">
              <a:solidFill>
                <a:schemeClr val="accent1"/>
              </a:solidFill>
            </a:endParaRPr>
          </a:p>
          <a:p>
            <a:pPr lvl="1">
              <a:buFont typeface="Wingdings" pitchFamily="2" charset="2"/>
              <a:buChar char="ü"/>
            </a:pPr>
            <a:r>
              <a:rPr lang="en-US" altLang="en-US" sz="2000" dirty="0">
                <a:solidFill>
                  <a:schemeClr val="accent1"/>
                </a:solidFill>
              </a:rPr>
              <a:t> ASCII characters – Yes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2000" dirty="0">
                <a:solidFill>
                  <a:schemeClr val="accent1"/>
                </a:solidFill>
              </a:rPr>
              <a:t> Unicode (like Hebrew) - No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0FFCA1-A360-45DF-8887-045A766B7AA2}"/>
              </a:ext>
            </a:extLst>
          </p:cNvPr>
          <p:cNvSpPr txBox="1"/>
          <p:nvPr/>
        </p:nvSpPr>
        <p:spPr>
          <a:xfrm>
            <a:off x="5549534" y="3400376"/>
            <a:ext cx="228780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Variables ES5</a:t>
            </a:r>
          </a:p>
          <a:p>
            <a:r>
              <a:rPr lang="en-US" dirty="0"/>
              <a:t>	</a:t>
            </a:r>
            <a:r>
              <a:rPr lang="en-US" b="1" dirty="0">
                <a:solidFill>
                  <a:srgbClr val="FF0000"/>
                </a:solidFill>
              </a:rPr>
              <a:t>var</a:t>
            </a:r>
            <a:r>
              <a:rPr lang="en-US" b="1" dirty="0">
                <a:solidFill>
                  <a:srgbClr val="00B0F0"/>
                </a:solidFill>
              </a:rPr>
              <a:t> x = 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DD4D1-E7AD-412E-A1F6-4A7E1B442E89}"/>
              </a:ext>
            </a:extLst>
          </p:cNvPr>
          <p:cNvSpPr txBox="1"/>
          <p:nvPr/>
        </p:nvSpPr>
        <p:spPr>
          <a:xfrm>
            <a:off x="5549534" y="4246794"/>
            <a:ext cx="2710999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Variables ES6</a:t>
            </a:r>
          </a:p>
          <a:p>
            <a:r>
              <a:rPr lang="en-US" dirty="0"/>
              <a:t>	</a:t>
            </a:r>
            <a:r>
              <a:rPr lang="en-US" b="1" dirty="0">
                <a:solidFill>
                  <a:srgbClr val="FF0000"/>
                </a:solidFill>
              </a:rPr>
              <a:t>const</a:t>
            </a:r>
            <a:r>
              <a:rPr lang="en-US" b="1" dirty="0">
                <a:solidFill>
                  <a:srgbClr val="00B0F0"/>
                </a:solidFill>
              </a:rPr>
              <a:t> x = true</a:t>
            </a:r>
          </a:p>
          <a:p>
            <a:r>
              <a:rPr lang="en-US" b="1" dirty="0">
                <a:solidFill>
                  <a:srgbClr val="00B0F0"/>
                </a:solidFill>
              </a:rPr>
              <a:t>	</a:t>
            </a:r>
            <a:r>
              <a:rPr lang="en-US" b="1" dirty="0">
                <a:solidFill>
                  <a:srgbClr val="FF0000"/>
                </a:solidFill>
              </a:rPr>
              <a:t>let</a:t>
            </a:r>
            <a:r>
              <a:rPr lang="en-US" b="1" dirty="0">
                <a:solidFill>
                  <a:srgbClr val="00B0F0"/>
                </a:solidFill>
              </a:rPr>
              <a:t> x = ‘ORT’</a:t>
            </a:r>
          </a:p>
        </p:txBody>
      </p:sp>
    </p:spTree>
    <p:extLst>
      <p:ext uri="{BB962C8B-B14F-4D97-AF65-F5344CB8AC3E}">
        <p14:creationId xmlns:p14="http://schemas.microsoft.com/office/powerpoint/2010/main" val="3068372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617703"/>
            <a:ext cx="6858000" cy="1143000"/>
          </a:xfrm>
        </p:spPr>
        <p:txBody>
          <a:bodyPr/>
          <a:lstStyle/>
          <a:p>
            <a:r>
              <a:rPr lang="en-US" altLang="en-US" dirty="0"/>
              <a:t>Basic Operators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4B04B8-C028-4450-A4F3-3DC38FF1A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2140847"/>
            <a:ext cx="1602497" cy="17060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298DE7-0B53-4AD3-A62E-468AB9D97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247" y="2140847"/>
            <a:ext cx="2664753" cy="3012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5FD3AF-E06C-4066-84BC-82485D386A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800" y="4473471"/>
            <a:ext cx="1725641" cy="10028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BABFCD-3B37-4B86-A711-D8D79055A6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360" y="2140847"/>
            <a:ext cx="2435087" cy="2286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C60E6DB-6D20-4E90-9164-DE01158B4823}"/>
              </a:ext>
            </a:extLst>
          </p:cNvPr>
          <p:cNvSpPr txBox="1"/>
          <p:nvPr/>
        </p:nvSpPr>
        <p:spPr>
          <a:xfrm>
            <a:off x="1072360" y="1771515"/>
            <a:ext cx="135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Arithmetic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50881B-51CD-46EA-B15F-07661DEA7146}"/>
              </a:ext>
            </a:extLst>
          </p:cNvPr>
          <p:cNvSpPr txBox="1"/>
          <p:nvPr/>
        </p:nvSpPr>
        <p:spPr>
          <a:xfrm>
            <a:off x="3736047" y="1771515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Comparison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047200-CAA3-4FFD-A9CC-F4DA0B02E9C5}"/>
              </a:ext>
            </a:extLst>
          </p:cNvPr>
          <p:cNvSpPr txBox="1"/>
          <p:nvPr/>
        </p:nvSpPr>
        <p:spPr>
          <a:xfrm>
            <a:off x="6682497" y="4075527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Bitwise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63510B-38C4-4442-9B93-CAA994EC4A28}"/>
              </a:ext>
            </a:extLst>
          </p:cNvPr>
          <p:cNvSpPr txBox="1"/>
          <p:nvPr/>
        </p:nvSpPr>
        <p:spPr>
          <a:xfrm>
            <a:off x="6773662" y="1752600"/>
            <a:ext cx="153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Assignment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DEFFB4-E6E9-4428-911C-DF02FB92DD07}"/>
              </a:ext>
            </a:extLst>
          </p:cNvPr>
          <p:cNvSpPr txBox="1"/>
          <p:nvPr/>
        </p:nvSpPr>
        <p:spPr>
          <a:xfrm>
            <a:off x="4648200" y="5986790"/>
            <a:ext cx="41251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7"/>
              </a:rPr>
              <a:t>https://www.w3schools.com/jsref/jsref_operators.asp</a:t>
            </a:r>
            <a:endParaRPr lang="en-US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52F6D7-5D21-4AE2-B966-85C58750BD4F}"/>
              </a:ext>
            </a:extLst>
          </p:cNvPr>
          <p:cNvSpPr txBox="1"/>
          <p:nvPr/>
        </p:nvSpPr>
        <p:spPr>
          <a:xfrm>
            <a:off x="1371600" y="5742801"/>
            <a:ext cx="774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8"/>
              </a:rPr>
              <a:t>https://developer.mozilla.org/en-US/docs/Web/JavaScript/Guide/Expressions_and_Operators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00029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66565"/>
            <a:ext cx="5029200" cy="1143000"/>
          </a:xfrm>
        </p:spPr>
        <p:txBody>
          <a:bodyPr>
            <a:noAutofit/>
          </a:bodyPr>
          <a:lstStyle/>
          <a:p>
            <a:r>
              <a:rPr lang="en-US" altLang="en-US" sz="3200" dirty="0"/>
              <a:t>Data Types: </a:t>
            </a:r>
            <a:r>
              <a:rPr lang="en-US" altLang="en-US" sz="3200" dirty="0">
                <a:solidFill>
                  <a:srgbClr val="C00000"/>
                </a:solidFill>
              </a:rPr>
              <a:t>Numbers</a:t>
            </a:r>
          </a:p>
        </p:txBody>
      </p:sp>
      <p:sp>
        <p:nvSpPr>
          <p:cNvPr id="210947" name="Rectangle 3"/>
          <p:cNvSpPr>
            <a:spLocks noChangeArrowheads="1"/>
          </p:cNvSpPr>
          <p:nvPr/>
        </p:nvSpPr>
        <p:spPr bwMode="auto">
          <a:xfrm>
            <a:off x="609600" y="1709565"/>
            <a:ext cx="4876800" cy="2926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000" dirty="0">
                <a:solidFill>
                  <a:srgbClr val="000099"/>
                </a:solidFill>
              </a:rPr>
              <a:t> Numbers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2000" dirty="0">
                <a:solidFill>
                  <a:srgbClr val="00B0F0"/>
                </a:solidFill>
              </a:rPr>
              <a:t> </a:t>
            </a:r>
            <a:r>
              <a:rPr lang="en-US" altLang="en-US" sz="1600" dirty="0">
                <a:solidFill>
                  <a:srgbClr val="00B0F0"/>
                </a:solidFill>
              </a:rPr>
              <a:t>Integer from (– 2)**53  to 2**53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1600" dirty="0">
                <a:solidFill>
                  <a:srgbClr val="00B0F0"/>
                </a:solidFill>
              </a:rPr>
              <a:t> Octal and Hexadecimal</a:t>
            </a:r>
          </a:p>
          <a:p>
            <a:pPr lvl="2">
              <a:buFont typeface="Wingdings" pitchFamily="2" charset="2"/>
              <a:buNone/>
            </a:pPr>
            <a:r>
              <a:rPr lang="en-US" altLang="en-US" sz="1600" dirty="0">
                <a:solidFill>
                  <a:srgbClr val="00B0F0"/>
                </a:solidFill>
              </a:rPr>
              <a:t> 026 (8-based, from 0…)</a:t>
            </a:r>
          </a:p>
          <a:p>
            <a:pPr lvl="2">
              <a:buFont typeface="Wingdings" pitchFamily="2" charset="2"/>
              <a:buNone/>
            </a:pPr>
            <a:r>
              <a:rPr lang="en-US" altLang="en-US" sz="1600" dirty="0">
                <a:solidFill>
                  <a:srgbClr val="00B0F0"/>
                </a:solidFill>
              </a:rPr>
              <a:t> 0xC9A (16-based, from 0x…)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1600" dirty="0">
                <a:solidFill>
                  <a:srgbClr val="00B0F0"/>
                </a:solidFill>
              </a:rPr>
              <a:t> Floating-point</a:t>
            </a:r>
          </a:p>
          <a:p>
            <a:pPr lvl="2">
              <a:buFont typeface="Wingdings" pitchFamily="2" charset="2"/>
              <a:buNone/>
            </a:pPr>
            <a:r>
              <a:rPr lang="en-US" altLang="en-US" sz="1600" dirty="0">
                <a:solidFill>
                  <a:srgbClr val="00B0F0"/>
                </a:solidFill>
              </a:rPr>
              <a:t>3.14</a:t>
            </a:r>
          </a:p>
          <a:p>
            <a:pPr lvl="2">
              <a:buFont typeface="Wingdings" pitchFamily="2" charset="2"/>
              <a:buNone/>
            </a:pPr>
            <a:r>
              <a:rPr lang="en-US" altLang="en-US" sz="1600" dirty="0">
                <a:solidFill>
                  <a:srgbClr val="00B0F0"/>
                </a:solidFill>
              </a:rPr>
              <a:t> .3333</a:t>
            </a:r>
          </a:p>
          <a:p>
            <a:pPr lvl="2">
              <a:buFont typeface="Wingdings" pitchFamily="2" charset="2"/>
              <a:buNone/>
            </a:pPr>
            <a:r>
              <a:rPr lang="en-US" altLang="en-US" sz="1600" dirty="0">
                <a:solidFill>
                  <a:srgbClr val="00B0F0"/>
                </a:solidFill>
              </a:rPr>
              <a:t> 1.12e+23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1600" dirty="0">
                <a:solidFill>
                  <a:srgbClr val="00B0F0"/>
                </a:solidFill>
              </a:rPr>
              <a:t> Big numbers</a:t>
            </a:r>
          </a:p>
          <a:p>
            <a:pPr lvl="2">
              <a:buFont typeface="Wingdings" pitchFamily="2" charset="2"/>
              <a:buNone/>
            </a:pPr>
            <a:r>
              <a:rPr lang="en-US" altLang="en-US" sz="1600" dirty="0">
                <a:solidFill>
                  <a:srgbClr val="000099"/>
                </a:solidFill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7315200" y="4733499"/>
            <a:ext cx="16764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2 - binary value</a:t>
            </a:r>
          </a:p>
          <a:p>
            <a:r>
              <a:rPr lang="en-GB" sz="1000" dirty="0"/>
              <a:t>8 -  octal value</a:t>
            </a:r>
          </a:p>
          <a:p>
            <a:r>
              <a:rPr lang="en-GB" sz="1000" dirty="0"/>
              <a:t>16 - hexadecimal value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55D2FC3-CE7E-486F-A080-7FCE9CC82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419600"/>
            <a:ext cx="4876800" cy="1756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000" dirty="0">
                <a:solidFill>
                  <a:srgbClr val="000099"/>
                </a:solidFill>
              </a:rPr>
              <a:t> Conversion to string</a:t>
            </a:r>
          </a:p>
          <a:p>
            <a:pPr lvl="2">
              <a:buFont typeface="Wingdings" pitchFamily="2" charset="2"/>
              <a:buNone/>
            </a:pPr>
            <a:r>
              <a:rPr lang="en-US" altLang="en-US" sz="1600" dirty="0">
                <a:solidFill>
                  <a:srgbClr val="00B0F0"/>
                </a:solidFill>
              </a:rPr>
              <a:t> let x = 33</a:t>
            </a:r>
          </a:p>
          <a:p>
            <a:pPr lvl="2">
              <a:buFont typeface="Wingdings" pitchFamily="2" charset="2"/>
              <a:buNone/>
            </a:pPr>
            <a:r>
              <a:rPr lang="en-US" altLang="en-US" sz="1600" dirty="0">
                <a:solidFill>
                  <a:srgbClr val="00B0F0"/>
                </a:solidFill>
              </a:rPr>
              <a:t> let y = </a:t>
            </a:r>
            <a:r>
              <a:rPr lang="en-US" altLang="en-US" sz="1600" dirty="0" err="1">
                <a:solidFill>
                  <a:srgbClr val="00B0F0"/>
                </a:solidFill>
              </a:rPr>
              <a:t>x.toString</a:t>
            </a:r>
            <a:r>
              <a:rPr lang="en-US" altLang="en-US" sz="1600" dirty="0">
                <a:solidFill>
                  <a:srgbClr val="00B0F0"/>
                </a:solidFill>
              </a:rPr>
              <a:t>(16)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000" dirty="0">
                <a:solidFill>
                  <a:srgbClr val="000099"/>
                </a:solidFill>
              </a:rPr>
              <a:t> Working with numbers </a:t>
            </a:r>
            <a:endParaRPr lang="en-US" altLang="en-US" sz="2000" dirty="0">
              <a:solidFill>
                <a:srgbClr val="00B0F0"/>
              </a:solidFill>
            </a:endParaRPr>
          </a:p>
          <a:p>
            <a:pPr lvl="1">
              <a:buFont typeface="Wingdings" pitchFamily="2" charset="2"/>
              <a:buChar char="ü"/>
            </a:pPr>
            <a:r>
              <a:rPr lang="en-US" altLang="en-US" sz="2000" dirty="0">
                <a:solidFill>
                  <a:srgbClr val="00B0F0"/>
                </a:solidFill>
              </a:rPr>
              <a:t> </a:t>
            </a:r>
            <a:r>
              <a:rPr lang="en-US" altLang="en-US" sz="1600" dirty="0" err="1">
                <a:solidFill>
                  <a:srgbClr val="00B0F0"/>
                </a:solidFill>
              </a:rPr>
              <a:t>sin_of_x</a:t>
            </a:r>
            <a:r>
              <a:rPr lang="en-US" altLang="en-US" sz="1600" dirty="0">
                <a:solidFill>
                  <a:srgbClr val="00B0F0"/>
                </a:solidFill>
              </a:rPr>
              <a:t> = </a:t>
            </a:r>
            <a:r>
              <a:rPr lang="en-US" altLang="en-US" sz="1600" b="1" dirty="0" err="1">
                <a:solidFill>
                  <a:srgbClr val="0070C0"/>
                </a:solidFill>
              </a:rPr>
              <a:t>Math</a:t>
            </a:r>
            <a:r>
              <a:rPr lang="en-US" altLang="en-US" sz="1600" dirty="0" err="1">
                <a:solidFill>
                  <a:srgbClr val="00B0F0"/>
                </a:solidFill>
              </a:rPr>
              <a:t>.sin</a:t>
            </a:r>
            <a:r>
              <a:rPr lang="en-US" altLang="en-US" sz="1600" dirty="0">
                <a:solidFill>
                  <a:srgbClr val="00B0F0"/>
                </a:solidFill>
              </a:rPr>
              <a:t>(x)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1600" dirty="0">
                <a:solidFill>
                  <a:srgbClr val="00B0F0"/>
                </a:solidFill>
              </a:rPr>
              <a:t> </a:t>
            </a:r>
            <a:r>
              <a:rPr lang="en-US" altLang="en-US" sz="1600" dirty="0" err="1">
                <a:solidFill>
                  <a:srgbClr val="00B0F0"/>
                </a:solidFill>
              </a:rPr>
              <a:t>hypot</a:t>
            </a:r>
            <a:r>
              <a:rPr lang="en-US" altLang="en-US" sz="1600" dirty="0">
                <a:solidFill>
                  <a:srgbClr val="00B0F0"/>
                </a:solidFill>
              </a:rPr>
              <a:t> = </a:t>
            </a:r>
            <a:r>
              <a:rPr lang="en-US" altLang="en-US" sz="1600" b="1" dirty="0" err="1">
                <a:solidFill>
                  <a:srgbClr val="0070C0"/>
                </a:solidFill>
              </a:rPr>
              <a:t>Math</a:t>
            </a:r>
            <a:r>
              <a:rPr lang="en-US" altLang="en-US" sz="1600" dirty="0" err="1">
                <a:solidFill>
                  <a:srgbClr val="00B0F0"/>
                </a:solidFill>
              </a:rPr>
              <a:t>.sqrt</a:t>
            </a:r>
            <a:r>
              <a:rPr lang="en-US" altLang="en-US" sz="1600" dirty="0">
                <a:solidFill>
                  <a:srgbClr val="00B0F0"/>
                </a:solidFill>
              </a:rPr>
              <a:t>(x*x + y*y)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BD01F-0A8B-4BEA-B55D-691826365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329" y="4419600"/>
            <a:ext cx="2664871" cy="1524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EE30B5-1DEE-4D9F-834D-3E18B472C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2885012"/>
            <a:ext cx="2752725" cy="5429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42DE83D-3F1F-497D-9422-7FA6BFDEC650}"/>
              </a:ext>
            </a:extLst>
          </p:cNvPr>
          <p:cNvSpPr txBox="1"/>
          <p:nvPr/>
        </p:nvSpPr>
        <p:spPr>
          <a:xfrm>
            <a:off x="5632142" y="2509392"/>
            <a:ext cx="1683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>
                <a:solidFill>
                  <a:srgbClr val="00B0F0"/>
                </a:solidFill>
              </a:rPr>
              <a:t>Mutation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550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Data Types: </a:t>
            </a:r>
            <a:r>
              <a:rPr lang="en-US" altLang="en-US" dirty="0">
                <a:solidFill>
                  <a:srgbClr val="C00000"/>
                </a:solidFill>
              </a:rPr>
              <a:t>Strings and Boolean</a:t>
            </a:r>
          </a:p>
        </p:txBody>
      </p:sp>
      <p:sp>
        <p:nvSpPr>
          <p:cNvPr id="211971" name="Rectangle 3"/>
          <p:cNvSpPr>
            <a:spLocks noChangeArrowheads="1"/>
          </p:cNvSpPr>
          <p:nvPr/>
        </p:nvSpPr>
        <p:spPr bwMode="auto">
          <a:xfrm>
            <a:off x="685800" y="1672492"/>
            <a:ext cx="6400800" cy="2125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99"/>
                </a:solidFill>
              </a:rPr>
              <a:t> String</a:t>
            </a:r>
            <a:endParaRPr lang="en-US" altLang="en-US" dirty="0">
              <a:solidFill>
                <a:schemeClr val="accent1"/>
              </a:solidFill>
            </a:endParaRPr>
          </a:p>
          <a:p>
            <a:pPr lvl="1">
              <a:buFont typeface="Wingdings" pitchFamily="2" charset="2"/>
              <a:buChar char="ü"/>
            </a:pPr>
            <a:r>
              <a:rPr lang="en-US" altLang="en-US" dirty="0">
                <a:solidFill>
                  <a:schemeClr val="accent1"/>
                </a:solidFill>
              </a:rPr>
              <a:t> </a:t>
            </a:r>
            <a:r>
              <a:rPr lang="en-US" altLang="en-US" sz="1200" dirty="0">
                <a:solidFill>
                  <a:schemeClr val="accent1"/>
                </a:solidFill>
              </a:rPr>
              <a:t>‘string 1’, “</a:t>
            </a:r>
            <a:r>
              <a:rPr lang="en-US" altLang="en-US" sz="1200" dirty="0" err="1">
                <a:solidFill>
                  <a:schemeClr val="accent1"/>
                </a:solidFill>
              </a:rPr>
              <a:t>str</a:t>
            </a:r>
            <a:r>
              <a:rPr lang="en-US" altLang="en-US" sz="1200" dirty="0">
                <a:solidFill>
                  <a:schemeClr val="accent1"/>
                </a:solidFill>
              </a:rPr>
              <a:t> 2”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1200" dirty="0">
                <a:solidFill>
                  <a:schemeClr val="accent1"/>
                </a:solidFill>
              </a:rPr>
              <a:t> ‘name=“Alex”’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1200" dirty="0">
                <a:solidFill>
                  <a:schemeClr val="accent1"/>
                </a:solidFill>
              </a:rPr>
              <a:t> &lt;a </a:t>
            </a:r>
            <a:r>
              <a:rPr lang="en-US" altLang="en-US" sz="1200" dirty="0" err="1">
                <a:solidFill>
                  <a:schemeClr val="accent1"/>
                </a:solidFill>
              </a:rPr>
              <a:t>href</a:t>
            </a:r>
            <a:r>
              <a:rPr lang="en-US" altLang="en-US" sz="1200" dirty="0">
                <a:solidFill>
                  <a:schemeClr val="accent1"/>
                </a:solidFill>
              </a:rPr>
              <a:t>=“#” </a:t>
            </a:r>
            <a:r>
              <a:rPr lang="en-US" altLang="en-US" sz="1200" dirty="0" err="1">
                <a:solidFill>
                  <a:schemeClr val="accent1"/>
                </a:solidFill>
              </a:rPr>
              <a:t>onClick</a:t>
            </a:r>
            <a:r>
              <a:rPr lang="en-US" altLang="en-US" sz="1200" dirty="0">
                <a:solidFill>
                  <a:schemeClr val="accent1"/>
                </a:solidFill>
              </a:rPr>
              <a:t>=“alert(‘OK’)”&gt;Click Me&lt;/a&gt;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1200" dirty="0">
                <a:solidFill>
                  <a:schemeClr val="accent1"/>
                </a:solidFill>
              </a:rPr>
              <a:t> ‘I can\’t’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1200" dirty="0">
                <a:solidFill>
                  <a:schemeClr val="accent1"/>
                </a:solidFill>
              </a:rPr>
              <a:t> “</a:t>
            </a:r>
            <a:r>
              <a:rPr lang="en-US" altLang="en-US" sz="1200" dirty="0" err="1">
                <a:solidFill>
                  <a:schemeClr val="accent1"/>
                </a:solidFill>
              </a:rPr>
              <a:t>static_part</a:t>
            </a:r>
            <a:r>
              <a:rPr lang="en-US" altLang="en-US" sz="1200" dirty="0">
                <a:solidFill>
                  <a:schemeClr val="accent1"/>
                </a:solidFill>
              </a:rPr>
              <a:t>” + </a:t>
            </a:r>
            <a:r>
              <a:rPr lang="en-US" altLang="en-US" sz="1200" dirty="0" err="1">
                <a:solidFill>
                  <a:schemeClr val="accent1"/>
                </a:solidFill>
              </a:rPr>
              <a:t>dynamic_part</a:t>
            </a:r>
            <a:endParaRPr lang="en-US" altLang="en-US" sz="1200" dirty="0">
              <a:solidFill>
                <a:schemeClr val="accent1"/>
              </a:solidFill>
            </a:endParaRPr>
          </a:p>
          <a:p>
            <a:pPr lvl="1"/>
            <a:r>
              <a:rPr lang="en-US" altLang="en-US" sz="1200" dirty="0">
                <a:solidFill>
                  <a:schemeClr val="accent1"/>
                </a:solidFill>
              </a:rPr>
              <a:t>***********************************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1200" dirty="0">
                <a:solidFill>
                  <a:schemeClr val="accent1"/>
                </a:solidFill>
              </a:rPr>
              <a:t> </a:t>
            </a:r>
            <a:r>
              <a:rPr lang="en-US" altLang="en-US" sz="1200" dirty="0" err="1">
                <a:solidFill>
                  <a:schemeClr val="accent1"/>
                </a:solidFill>
              </a:rPr>
              <a:t>s.length</a:t>
            </a:r>
            <a:endParaRPr lang="en-US" altLang="en-US" sz="1200" dirty="0">
              <a:solidFill>
                <a:schemeClr val="accent1"/>
              </a:solidFill>
            </a:endParaRPr>
          </a:p>
          <a:p>
            <a:pPr lvl="1">
              <a:buFont typeface="Wingdings" pitchFamily="2" charset="2"/>
              <a:buChar char="ü"/>
            </a:pPr>
            <a:r>
              <a:rPr lang="en-US" altLang="en-US" sz="1200" dirty="0">
                <a:solidFill>
                  <a:schemeClr val="accent1"/>
                </a:solidFill>
              </a:rPr>
              <a:t> </a:t>
            </a:r>
            <a:r>
              <a:rPr lang="en-US" altLang="en-US" sz="1200" dirty="0" err="1">
                <a:solidFill>
                  <a:schemeClr val="accent1"/>
                </a:solidFill>
              </a:rPr>
              <a:t>last_char</a:t>
            </a:r>
            <a:r>
              <a:rPr lang="en-US" altLang="en-US" sz="1200" dirty="0">
                <a:solidFill>
                  <a:schemeClr val="accent1"/>
                </a:solidFill>
              </a:rPr>
              <a:t> = </a:t>
            </a:r>
            <a:r>
              <a:rPr lang="en-US" altLang="en-US" sz="1200" dirty="0" err="1">
                <a:solidFill>
                  <a:schemeClr val="accent1"/>
                </a:solidFill>
              </a:rPr>
              <a:t>s.charAt</a:t>
            </a:r>
            <a:r>
              <a:rPr lang="en-US" altLang="en-US" sz="1200" dirty="0">
                <a:solidFill>
                  <a:schemeClr val="accent1"/>
                </a:solidFill>
              </a:rPr>
              <a:t>(</a:t>
            </a:r>
            <a:r>
              <a:rPr lang="en-US" altLang="en-US" sz="1200" dirty="0" err="1">
                <a:solidFill>
                  <a:schemeClr val="accent1"/>
                </a:solidFill>
              </a:rPr>
              <a:t>s.length</a:t>
            </a:r>
            <a:r>
              <a:rPr lang="en-US" altLang="en-US" sz="1200" dirty="0">
                <a:solidFill>
                  <a:schemeClr val="accent1"/>
                </a:solidFill>
              </a:rPr>
              <a:t> – 1)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1200" dirty="0">
                <a:solidFill>
                  <a:schemeClr val="accent1"/>
                </a:solidFill>
              </a:rPr>
              <a:t> </a:t>
            </a:r>
            <a:r>
              <a:rPr lang="en-US" altLang="en-US" sz="1200" dirty="0" err="1">
                <a:solidFill>
                  <a:schemeClr val="accent1"/>
                </a:solidFill>
              </a:rPr>
              <a:t>i</a:t>
            </a:r>
            <a:r>
              <a:rPr lang="en-US" altLang="en-US" sz="1200" dirty="0">
                <a:solidFill>
                  <a:schemeClr val="accent1"/>
                </a:solidFill>
              </a:rPr>
              <a:t> = </a:t>
            </a:r>
            <a:r>
              <a:rPr lang="en-US" altLang="en-US" sz="1200" dirty="0" err="1">
                <a:solidFill>
                  <a:schemeClr val="accent1"/>
                </a:solidFill>
              </a:rPr>
              <a:t>s.indexOf</a:t>
            </a:r>
            <a:r>
              <a:rPr lang="en-US" altLang="en-US" sz="1200" dirty="0">
                <a:solidFill>
                  <a:schemeClr val="accent1"/>
                </a:solidFill>
              </a:rPr>
              <a:t>(‘a’)</a:t>
            </a:r>
          </a:p>
        </p:txBody>
      </p:sp>
      <p:sp>
        <p:nvSpPr>
          <p:cNvPr id="211975" name="Rectangle 7"/>
          <p:cNvSpPr>
            <a:spLocks noChangeArrowheads="1"/>
          </p:cNvSpPr>
          <p:nvPr/>
        </p:nvSpPr>
        <p:spPr bwMode="auto">
          <a:xfrm>
            <a:off x="609600" y="4114800"/>
            <a:ext cx="7155402" cy="1879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>
                <a:solidFill>
                  <a:srgbClr val="000099"/>
                </a:solidFill>
              </a:rPr>
              <a:t> Boolean</a:t>
            </a:r>
            <a:endParaRPr lang="en-US" altLang="en-US" dirty="0">
              <a:solidFill>
                <a:schemeClr val="accent1"/>
              </a:solidFill>
            </a:endParaRPr>
          </a:p>
          <a:p>
            <a:pPr lvl="1">
              <a:buFont typeface="Wingdings" pitchFamily="2" charset="2"/>
              <a:buChar char="ü"/>
            </a:pPr>
            <a:r>
              <a:rPr lang="en-US" altLang="en-US" sz="1400" dirty="0">
                <a:solidFill>
                  <a:schemeClr val="accent1"/>
                </a:solidFill>
              </a:rPr>
              <a:t> </a:t>
            </a:r>
            <a:r>
              <a:rPr lang="en-US" altLang="en-US" sz="1200" dirty="0">
                <a:solidFill>
                  <a:schemeClr val="accent1"/>
                </a:solidFill>
              </a:rPr>
              <a:t>true, false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1200" dirty="0">
                <a:solidFill>
                  <a:schemeClr val="accent1"/>
                </a:solidFill>
              </a:rPr>
              <a:t> var a = true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1200" dirty="0">
                <a:solidFill>
                  <a:schemeClr val="accent1"/>
                </a:solidFill>
              </a:rPr>
              <a:t> if (x===1) { </a:t>
            </a:r>
          </a:p>
          <a:p>
            <a:pPr lvl="1"/>
            <a:r>
              <a:rPr lang="en-US" altLang="en-US" sz="1200" dirty="0">
                <a:solidFill>
                  <a:schemeClr val="accent1"/>
                </a:solidFill>
              </a:rPr>
              <a:t>	    console.log(‘correct number’)</a:t>
            </a:r>
          </a:p>
          <a:p>
            <a:pPr lvl="1"/>
            <a:r>
              <a:rPr lang="en-US" altLang="en-US" sz="1200" dirty="0">
                <a:solidFill>
                  <a:schemeClr val="accent1"/>
                </a:solidFill>
              </a:rPr>
              <a:t>	} </a:t>
            </a:r>
          </a:p>
          <a:p>
            <a:pPr lvl="1"/>
            <a:r>
              <a:rPr lang="en-US" altLang="en-US" sz="1200" dirty="0">
                <a:solidFill>
                  <a:schemeClr val="accent1"/>
                </a:solidFill>
              </a:rPr>
              <a:t>	else { </a:t>
            </a:r>
          </a:p>
          <a:p>
            <a:pPr lvl="1"/>
            <a:r>
              <a:rPr lang="en-US" altLang="en-US" sz="1200" dirty="0">
                <a:solidFill>
                  <a:schemeClr val="accent1"/>
                </a:solidFill>
              </a:rPr>
              <a:t>	    console.log(‘wrong number’)</a:t>
            </a:r>
          </a:p>
          <a:p>
            <a:pPr lvl="1"/>
            <a:r>
              <a:rPr lang="en-US" altLang="en-US" sz="1200" dirty="0">
                <a:solidFill>
                  <a:schemeClr val="accent1"/>
                </a:solidFill>
              </a:rPr>
              <a:t>	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E6AC2-DB0E-41AE-A4A9-B963F8D1F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480" y="2692102"/>
            <a:ext cx="4463720" cy="10811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426BD9-B96E-48A1-8EAF-7986286D9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825" y="4526253"/>
            <a:ext cx="3842551" cy="17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620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44392"/>
            <a:ext cx="6553200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Data Type: </a:t>
            </a:r>
            <a:r>
              <a:rPr lang="en-US" altLang="en-US" dirty="0">
                <a:solidFill>
                  <a:srgbClr val="C00000"/>
                </a:solidFill>
              </a:rPr>
              <a:t>Array 1 </a:t>
            </a:r>
          </a:p>
        </p:txBody>
      </p:sp>
      <p:sp>
        <p:nvSpPr>
          <p:cNvPr id="212995" name="Rectangle 3"/>
          <p:cNvSpPr>
            <a:spLocks noChangeArrowheads="1"/>
          </p:cNvSpPr>
          <p:nvPr/>
        </p:nvSpPr>
        <p:spPr bwMode="auto">
          <a:xfrm>
            <a:off x="619958" y="1731312"/>
            <a:ext cx="3505200" cy="1448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99"/>
                </a:solidFill>
              </a:rPr>
              <a:t> Creating Arrays</a:t>
            </a:r>
            <a:endParaRPr lang="en-US" altLang="en-US" sz="1400" b="1" dirty="0">
              <a:solidFill>
                <a:schemeClr val="accent1"/>
              </a:solidFill>
            </a:endParaRPr>
          </a:p>
          <a:p>
            <a:pPr lvl="1">
              <a:buFont typeface="Wingdings" pitchFamily="2" charset="2"/>
              <a:buChar char="ü"/>
            </a:pPr>
            <a:r>
              <a:rPr lang="en-US" altLang="en-US" sz="1400" b="1" dirty="0">
                <a:solidFill>
                  <a:schemeClr val="accent1"/>
                </a:solidFill>
              </a:rPr>
              <a:t> const</a:t>
            </a:r>
            <a:r>
              <a:rPr lang="en-US" altLang="en-US" sz="1400" dirty="0">
                <a:solidFill>
                  <a:schemeClr val="accent1"/>
                </a:solidFill>
              </a:rPr>
              <a:t> </a:t>
            </a:r>
            <a:r>
              <a:rPr lang="en-US" altLang="en-US" sz="1400" b="1" dirty="0">
                <a:solidFill>
                  <a:srgbClr val="FF0000"/>
                </a:solidFill>
              </a:rPr>
              <a:t>a = new Array() </a:t>
            </a:r>
            <a:r>
              <a:rPr lang="en-US" altLang="en-US" sz="1400" dirty="0">
                <a:solidFill>
                  <a:schemeClr val="accent1"/>
                </a:solidFill>
              </a:rPr>
              <a:t>or </a:t>
            </a:r>
            <a:r>
              <a:rPr lang="en-US" altLang="en-US" sz="1400" b="1" dirty="0">
                <a:solidFill>
                  <a:srgbClr val="FF0000"/>
                </a:solidFill>
              </a:rPr>
              <a:t>a = [ ]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1400" dirty="0">
                <a:solidFill>
                  <a:schemeClr val="accent1"/>
                </a:solidFill>
              </a:rPr>
              <a:t> a[0] = 1.2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1400" dirty="0">
                <a:solidFill>
                  <a:schemeClr val="accent1"/>
                </a:solidFill>
              </a:rPr>
              <a:t> a[1] = “string”;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1400" dirty="0">
                <a:solidFill>
                  <a:schemeClr val="accent1"/>
                </a:solidFill>
              </a:rPr>
              <a:t> a[2] = true </a:t>
            </a:r>
          </a:p>
          <a:p>
            <a:pPr lvl="1">
              <a:buFont typeface="Wingdings" pitchFamily="2" charset="2"/>
              <a:buChar char="ü"/>
            </a:pPr>
            <a:r>
              <a:rPr lang="en-US" altLang="en-US" sz="1400" dirty="0">
                <a:solidFill>
                  <a:schemeClr val="accent1"/>
                </a:solidFill>
              </a:rPr>
              <a:t> a[3] = [1,2,3]</a:t>
            </a:r>
            <a:endParaRPr lang="en-US" altLang="en-US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05C097-7C8C-4826-A70A-6603DD561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65" y="3235060"/>
            <a:ext cx="3852335" cy="23922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B88C96-FFD8-4171-A343-8EADEB316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81200"/>
            <a:ext cx="3797545" cy="37195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DB736C22-C281-4A1C-AF9D-21E753CA9E62}"/>
              </a:ext>
            </a:extLst>
          </p:cNvPr>
          <p:cNvSpPr/>
          <p:nvPr/>
        </p:nvSpPr>
        <p:spPr>
          <a:xfrm>
            <a:off x="4572000" y="4648200"/>
            <a:ext cx="533400" cy="6858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306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44392"/>
            <a:ext cx="6553200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Data Type: </a:t>
            </a:r>
            <a:r>
              <a:rPr lang="en-US" altLang="en-US" dirty="0">
                <a:solidFill>
                  <a:srgbClr val="C00000"/>
                </a:solidFill>
              </a:rPr>
              <a:t>Array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9433A0-ABF7-41FB-A3AD-106DF31E1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51" y="1600200"/>
            <a:ext cx="4018749" cy="4322051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DB736C22-C281-4A1C-AF9D-21E753CA9E62}"/>
              </a:ext>
            </a:extLst>
          </p:cNvPr>
          <p:cNvSpPr/>
          <p:nvPr/>
        </p:nvSpPr>
        <p:spPr>
          <a:xfrm>
            <a:off x="4648200" y="3467101"/>
            <a:ext cx="533400" cy="6858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6FEE2F-C5E4-4783-AD8F-1FB523CE2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897" y="1600200"/>
            <a:ext cx="3457575" cy="2924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1034DA-80D4-4BCA-B0D3-31CBE282C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897" y="5105400"/>
            <a:ext cx="2266025" cy="7424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8A4EA9-086F-47CF-BFFD-337E22EA4297}"/>
              </a:ext>
            </a:extLst>
          </p:cNvPr>
          <p:cNvSpPr txBox="1"/>
          <p:nvPr/>
        </p:nvSpPr>
        <p:spPr>
          <a:xfrm>
            <a:off x="5181600" y="4736068"/>
            <a:ext cx="1683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>
                <a:solidFill>
                  <a:srgbClr val="00B0F0"/>
                </a:solidFill>
              </a:rPr>
              <a:t>Enumeration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968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44392"/>
            <a:ext cx="6553200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Data Type: </a:t>
            </a:r>
            <a:r>
              <a:rPr lang="en-US" altLang="en-US" dirty="0">
                <a:solidFill>
                  <a:srgbClr val="C00000"/>
                </a:solidFill>
              </a:rPr>
              <a:t>Object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13377-1315-461B-B9AD-4E00C3ED7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781132"/>
            <a:ext cx="4233797" cy="3962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A7BDE7-7D4F-4695-9B51-C8089F41E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94" y="1524000"/>
            <a:ext cx="5492207" cy="15716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Arrow: Bent 8">
            <a:extLst>
              <a:ext uri="{FF2B5EF4-FFF2-40B4-BE49-F238E27FC236}">
                <a16:creationId xmlns:a16="http://schemas.microsoft.com/office/drawing/2014/main" id="{35554BC6-CC97-4355-A473-EC6F7D8EC9E9}"/>
              </a:ext>
            </a:extLst>
          </p:cNvPr>
          <p:cNvSpPr/>
          <p:nvPr/>
        </p:nvSpPr>
        <p:spPr>
          <a:xfrm rot="16200000" flipV="1">
            <a:off x="5013220" y="2994688"/>
            <a:ext cx="747870" cy="1143000"/>
          </a:xfrm>
          <a:prstGeom prst="bentArrow">
            <a:avLst>
              <a:gd name="adj1" fmla="val 35551"/>
              <a:gd name="adj2" fmla="val 24223"/>
              <a:gd name="adj3" fmla="val 25000"/>
              <a:gd name="adj4" fmla="val 3909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0F51A4-A7E4-46BF-891E-7F41E034F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4343400"/>
            <a:ext cx="2971800" cy="7478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05E37E-4B09-44AC-950A-B988061269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375" y="5352840"/>
            <a:ext cx="1343025" cy="990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Arrow: Bent 14">
            <a:extLst>
              <a:ext uri="{FF2B5EF4-FFF2-40B4-BE49-F238E27FC236}">
                <a16:creationId xmlns:a16="http://schemas.microsoft.com/office/drawing/2014/main" id="{3CFE17E0-A48B-4A54-9E1B-E87A53FA37FA}"/>
              </a:ext>
            </a:extLst>
          </p:cNvPr>
          <p:cNvSpPr/>
          <p:nvPr/>
        </p:nvSpPr>
        <p:spPr>
          <a:xfrm flipV="1">
            <a:off x="6400800" y="5125495"/>
            <a:ext cx="747870" cy="818105"/>
          </a:xfrm>
          <a:prstGeom prst="bentArrow">
            <a:avLst>
              <a:gd name="adj1" fmla="val 35551"/>
              <a:gd name="adj2" fmla="val 24223"/>
              <a:gd name="adj3" fmla="val 25000"/>
              <a:gd name="adj4" fmla="val 3909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99CFAA-AF0B-46DE-8E02-2FA89FE7774B}"/>
              </a:ext>
            </a:extLst>
          </p:cNvPr>
          <p:cNvSpPr txBox="1"/>
          <p:nvPr/>
        </p:nvSpPr>
        <p:spPr>
          <a:xfrm>
            <a:off x="7021358" y="3974068"/>
            <a:ext cx="1683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>
                <a:solidFill>
                  <a:srgbClr val="00B0F0"/>
                </a:solidFill>
              </a:rPr>
              <a:t>Enumeration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762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44392"/>
            <a:ext cx="6553200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Data Type: </a:t>
            </a:r>
            <a:r>
              <a:rPr lang="en-US" altLang="en-US" dirty="0">
                <a:solidFill>
                  <a:srgbClr val="C00000"/>
                </a:solidFill>
              </a:rPr>
              <a:t>Object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99CFAA-AF0B-46DE-8E02-2FA89FE7774B}"/>
              </a:ext>
            </a:extLst>
          </p:cNvPr>
          <p:cNvSpPr txBox="1"/>
          <p:nvPr/>
        </p:nvSpPr>
        <p:spPr>
          <a:xfrm>
            <a:off x="609600" y="1689708"/>
            <a:ext cx="4191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B0F0"/>
                </a:solidFill>
              </a:rPr>
              <a:t>JSON</a:t>
            </a:r>
            <a:r>
              <a:rPr lang="en-US" altLang="en-US" sz="1600" dirty="0">
                <a:solidFill>
                  <a:srgbClr val="00B0F0"/>
                </a:solidFill>
              </a:rPr>
              <a:t> </a:t>
            </a:r>
            <a:r>
              <a:rPr lang="en-GB" sz="1100" dirty="0">
                <a:solidFill>
                  <a:srgbClr val="FF0000"/>
                </a:solidFill>
              </a:rPr>
              <a:t>JavaScript Object Notation</a:t>
            </a:r>
            <a:endParaRPr lang="en-US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8A8665-5ECE-4005-861C-5023E78E9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29" y="2102581"/>
            <a:ext cx="2959871" cy="8994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A1F28F-7A48-4CA3-9BEC-ACF428C40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239" y="2133600"/>
            <a:ext cx="4447361" cy="9674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158A047-CD5B-4DCA-ACDD-91DD7F5BD29D}"/>
              </a:ext>
            </a:extLst>
          </p:cNvPr>
          <p:cNvSpPr txBox="1"/>
          <p:nvPr/>
        </p:nvSpPr>
        <p:spPr>
          <a:xfrm>
            <a:off x="304800" y="3380273"/>
            <a:ext cx="41910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B0F0"/>
                </a:solidFill>
              </a:rPr>
              <a:t>Clone </a:t>
            </a:r>
            <a:r>
              <a:rPr lang="en-GB" sz="1100" dirty="0">
                <a:solidFill>
                  <a:srgbClr val="FF0000"/>
                </a:solidFill>
              </a:rPr>
              <a:t>spread operator</a:t>
            </a:r>
            <a:endParaRPr lang="en-US" sz="1100" dirty="0"/>
          </a:p>
          <a:p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1FDA4CB-E0C2-41D2-A117-DAEF51C03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403" y="3913673"/>
            <a:ext cx="4506597" cy="1676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4667E25-F4BE-4CBF-9976-FF66CA51A3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752150"/>
            <a:ext cx="3188471" cy="40580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A7ABCCA-9EA8-457E-8969-7595C00A83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675673"/>
            <a:ext cx="3645671" cy="111552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62C0B9B-E7AF-4DAA-913E-FAAFB3C52D8F}"/>
              </a:ext>
            </a:extLst>
          </p:cNvPr>
          <p:cNvSpPr txBox="1"/>
          <p:nvPr/>
        </p:nvSpPr>
        <p:spPr>
          <a:xfrm>
            <a:off x="304800" y="4370873"/>
            <a:ext cx="4191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B0F0"/>
                </a:solidFill>
              </a:rPr>
              <a:t>Destructuring</a:t>
            </a:r>
            <a:endParaRPr lang="en-US" sz="1100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9E3A75C7-EA73-46CA-B8FC-A6FA7929F50E}"/>
              </a:ext>
            </a:extLst>
          </p:cNvPr>
          <p:cNvSpPr/>
          <p:nvPr/>
        </p:nvSpPr>
        <p:spPr>
          <a:xfrm>
            <a:off x="3733800" y="2514600"/>
            <a:ext cx="533400" cy="6858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A4C681F5-E645-4695-B70D-3F1DD9409645}"/>
              </a:ext>
            </a:extLst>
          </p:cNvPr>
          <p:cNvSpPr/>
          <p:nvPr/>
        </p:nvSpPr>
        <p:spPr>
          <a:xfrm>
            <a:off x="3654548" y="3750284"/>
            <a:ext cx="392929" cy="50519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BA8B9E46-A496-4D45-8260-6AF6C9A9703D}"/>
              </a:ext>
            </a:extLst>
          </p:cNvPr>
          <p:cNvSpPr/>
          <p:nvPr/>
        </p:nvSpPr>
        <p:spPr>
          <a:xfrm>
            <a:off x="4102871" y="5141174"/>
            <a:ext cx="392929" cy="50519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80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E08576BC-21BB-481A-BD4E-90B4B4354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17" y="2004950"/>
            <a:ext cx="3504028" cy="1548291"/>
          </a:xfrm>
          <a:prstGeom prst="rect">
            <a:avLst/>
          </a:prstGeom>
        </p:spPr>
      </p:pic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44392"/>
            <a:ext cx="6553200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Data Type: </a:t>
            </a:r>
            <a:r>
              <a:rPr lang="en-US" altLang="en-US" dirty="0">
                <a:solidFill>
                  <a:srgbClr val="C00000"/>
                </a:solidFill>
              </a:rPr>
              <a:t>Object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DD0019-30B6-4EFE-B91D-68449DB77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866" y="1752600"/>
            <a:ext cx="3421527" cy="15437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B7077B-72A2-4190-A44C-2ADFF0C27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999" y="4840664"/>
            <a:ext cx="3276601" cy="6838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DBB882-44D1-4BD3-8CB7-3B2B890F5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00" y="5912881"/>
            <a:ext cx="2885928" cy="7309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62A9B4-0D4F-474A-BDB3-B01B0A8F57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6137" y="3785764"/>
            <a:ext cx="2717370" cy="724632"/>
          </a:xfrm>
          <a:prstGeom prst="rect">
            <a:avLst/>
          </a:prstGeom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10E3C666-AA52-4FF8-BAA0-A06C57D2CE86}"/>
              </a:ext>
            </a:extLst>
          </p:cNvPr>
          <p:cNvSpPr/>
          <p:nvPr/>
        </p:nvSpPr>
        <p:spPr>
          <a:xfrm rot="5400000">
            <a:off x="578168" y="3533168"/>
            <a:ext cx="408727" cy="52550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C46DEC-7005-4B67-8EEE-EA0A370C9104}"/>
              </a:ext>
            </a:extLst>
          </p:cNvPr>
          <p:cNvSpPr txBox="1"/>
          <p:nvPr/>
        </p:nvSpPr>
        <p:spPr>
          <a:xfrm>
            <a:off x="1243549" y="3137312"/>
            <a:ext cx="2272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Not working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E301C4-780A-413E-84FE-D7D198DC4581}"/>
              </a:ext>
            </a:extLst>
          </p:cNvPr>
          <p:cNvSpPr txBox="1"/>
          <p:nvPr/>
        </p:nvSpPr>
        <p:spPr>
          <a:xfrm>
            <a:off x="3950626" y="3443415"/>
            <a:ext cx="2272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Solution 1 - </a:t>
            </a:r>
            <a:r>
              <a:rPr lang="en-US" dirty="0">
                <a:solidFill>
                  <a:srgbClr val="FF0000"/>
                </a:solidFill>
              </a:rPr>
              <a:t>_this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279297-291C-455A-A9C6-B2687D8E573F}"/>
              </a:ext>
            </a:extLst>
          </p:cNvPr>
          <p:cNvSpPr txBox="1"/>
          <p:nvPr/>
        </p:nvSpPr>
        <p:spPr>
          <a:xfrm>
            <a:off x="2631488" y="4521883"/>
            <a:ext cx="3276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Solution 2 – </a:t>
            </a:r>
            <a:r>
              <a:rPr lang="en-US" dirty="0">
                <a:solidFill>
                  <a:srgbClr val="FF0000"/>
                </a:solidFill>
              </a:rPr>
              <a:t>bind(this)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547445-3080-4692-9468-F51CCB649FFA}"/>
              </a:ext>
            </a:extLst>
          </p:cNvPr>
          <p:cNvSpPr txBox="1"/>
          <p:nvPr/>
        </p:nvSpPr>
        <p:spPr>
          <a:xfrm>
            <a:off x="2402888" y="5585470"/>
            <a:ext cx="3312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Solution 3 – </a:t>
            </a:r>
            <a:r>
              <a:rPr lang="en-US" dirty="0">
                <a:solidFill>
                  <a:srgbClr val="FF0000"/>
                </a:solidFill>
              </a:rPr>
              <a:t>arrow function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7E367C-5E86-4CBB-93BC-ADD3EF2E9FC0}"/>
              </a:ext>
            </a:extLst>
          </p:cNvPr>
          <p:cNvSpPr txBox="1"/>
          <p:nvPr/>
        </p:nvSpPr>
        <p:spPr>
          <a:xfrm>
            <a:off x="617494" y="1597022"/>
            <a:ext cx="2272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Context problem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382403-702F-4EE7-9C6E-581855CA43E7}"/>
              </a:ext>
            </a:extLst>
          </p:cNvPr>
          <p:cNvSpPr/>
          <p:nvPr/>
        </p:nvSpPr>
        <p:spPr>
          <a:xfrm>
            <a:off x="827038" y="2615035"/>
            <a:ext cx="2971800" cy="7986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9A5F451-2256-4B96-9C7E-D9CF8941F0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4038600"/>
            <a:ext cx="3211560" cy="22179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1506DB6-3F25-4F97-AA96-CBE29F9F7C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459" y="4891215"/>
            <a:ext cx="1438275" cy="1000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B5A43CC-8A00-463D-8C95-1210A746BC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2556" y="5524528"/>
            <a:ext cx="2641985" cy="11242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6" name="Arrow: Right 45">
            <a:extLst>
              <a:ext uri="{FF2B5EF4-FFF2-40B4-BE49-F238E27FC236}">
                <a16:creationId xmlns:a16="http://schemas.microsoft.com/office/drawing/2014/main" id="{996141BB-1813-4145-81D8-26DF8C0C95F4}"/>
              </a:ext>
            </a:extLst>
          </p:cNvPr>
          <p:cNvSpPr/>
          <p:nvPr/>
        </p:nvSpPr>
        <p:spPr>
          <a:xfrm rot="5400000">
            <a:off x="579527" y="4302895"/>
            <a:ext cx="408727" cy="52550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2D0BEBF8-C064-48C3-B5CD-342326D60C52}"/>
              </a:ext>
            </a:extLst>
          </p:cNvPr>
          <p:cNvSpPr/>
          <p:nvPr/>
        </p:nvSpPr>
        <p:spPr>
          <a:xfrm>
            <a:off x="5486400" y="6008702"/>
            <a:ext cx="529273" cy="52550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788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44392"/>
            <a:ext cx="6553200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Functions</a:t>
            </a:r>
            <a:endParaRPr lang="en-US" altLang="en-US" dirty="0">
              <a:solidFill>
                <a:srgbClr val="C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2C0B9B-E7AF-4DAA-913E-FAAFB3C52D8F}"/>
              </a:ext>
            </a:extLst>
          </p:cNvPr>
          <p:cNvSpPr txBox="1"/>
          <p:nvPr/>
        </p:nvSpPr>
        <p:spPr>
          <a:xfrm>
            <a:off x="422012" y="1752600"/>
            <a:ext cx="3083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400" dirty="0">
                <a:solidFill>
                  <a:srgbClr val="00B0F0"/>
                </a:solidFill>
              </a:rPr>
              <a:t>Function declaration </a:t>
            </a:r>
            <a:r>
              <a:rPr lang="en-US" altLang="en-US" sz="1400" dirty="0">
                <a:solidFill>
                  <a:srgbClr val="FF0000"/>
                </a:solidFill>
              </a:rPr>
              <a:t>ES5</a:t>
            </a:r>
            <a:endParaRPr lang="en-US" sz="10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515AF-5E2A-41FF-B7C8-B6B576C42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21" y="2036854"/>
            <a:ext cx="3307496" cy="5982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73F941-B071-4208-8625-500CCAC50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59" y="3223743"/>
            <a:ext cx="3401507" cy="5982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7A4D54-62B1-44A0-8C5D-22AE0A80F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29" y="4410632"/>
            <a:ext cx="5008249" cy="9743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A81E38-03DA-4131-B136-5F3EC660DF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1883" y="1076165"/>
            <a:ext cx="3264763" cy="137598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4BCE27F-9B20-476E-B78D-10A0FB759E77}"/>
              </a:ext>
            </a:extLst>
          </p:cNvPr>
          <p:cNvSpPr txBox="1"/>
          <p:nvPr/>
        </p:nvSpPr>
        <p:spPr>
          <a:xfrm>
            <a:off x="396119" y="2964452"/>
            <a:ext cx="3083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400" dirty="0">
                <a:solidFill>
                  <a:srgbClr val="00B0F0"/>
                </a:solidFill>
              </a:rPr>
              <a:t>Function expression </a:t>
            </a:r>
            <a:r>
              <a:rPr lang="en-US" altLang="en-US" sz="1400" dirty="0">
                <a:solidFill>
                  <a:srgbClr val="FF0000"/>
                </a:solidFill>
              </a:rPr>
              <a:t>ES6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DB8435-F3C1-4D17-AB7B-CEA80EC6BF1C}"/>
              </a:ext>
            </a:extLst>
          </p:cNvPr>
          <p:cNvSpPr txBox="1"/>
          <p:nvPr/>
        </p:nvSpPr>
        <p:spPr>
          <a:xfrm>
            <a:off x="422012" y="4117500"/>
            <a:ext cx="3083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400" dirty="0">
                <a:solidFill>
                  <a:srgbClr val="00B0F0"/>
                </a:solidFill>
              </a:rPr>
              <a:t>Arrow functions </a:t>
            </a:r>
            <a:r>
              <a:rPr lang="en-US" altLang="en-US" sz="1400" dirty="0">
                <a:solidFill>
                  <a:srgbClr val="FF0000"/>
                </a:solidFill>
              </a:rPr>
              <a:t>ES6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511F59-4F8B-42A8-96BD-7EC6F4255D40}"/>
              </a:ext>
            </a:extLst>
          </p:cNvPr>
          <p:cNvSpPr txBox="1"/>
          <p:nvPr/>
        </p:nvSpPr>
        <p:spPr>
          <a:xfrm>
            <a:off x="5058396" y="762000"/>
            <a:ext cx="3789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400" dirty="0">
                <a:solidFill>
                  <a:srgbClr val="00B0F0"/>
                </a:solidFill>
              </a:rPr>
              <a:t>Anonymous functions </a:t>
            </a:r>
            <a:r>
              <a:rPr lang="en-US" altLang="en-US" sz="1400" dirty="0">
                <a:solidFill>
                  <a:srgbClr val="FF0000"/>
                </a:solidFill>
              </a:rPr>
              <a:t>ES5-ES6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5DFE6C-1637-47A5-9C81-1028DE80CAE5}"/>
              </a:ext>
            </a:extLst>
          </p:cNvPr>
          <p:cNvSpPr txBox="1"/>
          <p:nvPr/>
        </p:nvSpPr>
        <p:spPr>
          <a:xfrm>
            <a:off x="5638800" y="2616731"/>
            <a:ext cx="3083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400" dirty="0">
                <a:solidFill>
                  <a:srgbClr val="00B0F0"/>
                </a:solidFill>
              </a:rPr>
              <a:t>Default and all arguments </a:t>
            </a:r>
            <a:r>
              <a:rPr lang="en-US" altLang="en-US" sz="1400" dirty="0">
                <a:solidFill>
                  <a:srgbClr val="FF0000"/>
                </a:solidFill>
              </a:rPr>
              <a:t>ES6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248E5008-CFF3-44F2-ACA1-02B0BB924BED}"/>
              </a:ext>
            </a:extLst>
          </p:cNvPr>
          <p:cNvSpPr/>
          <p:nvPr/>
        </p:nvSpPr>
        <p:spPr>
          <a:xfrm rot="5400000">
            <a:off x="7177342" y="5040363"/>
            <a:ext cx="392929" cy="50519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321BE5-24CD-44A8-B747-AA1E184487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5128" y="5943600"/>
            <a:ext cx="2305050" cy="228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3" name="Arrow: Right 32">
            <a:extLst>
              <a:ext uri="{FF2B5EF4-FFF2-40B4-BE49-F238E27FC236}">
                <a16:creationId xmlns:a16="http://schemas.microsoft.com/office/drawing/2014/main" id="{E34445F8-AC42-443F-967C-D74941265C37}"/>
              </a:ext>
            </a:extLst>
          </p:cNvPr>
          <p:cNvSpPr/>
          <p:nvPr/>
        </p:nvSpPr>
        <p:spPr>
          <a:xfrm rot="5400000">
            <a:off x="4777201" y="5400276"/>
            <a:ext cx="392929" cy="50519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FA330C9-822B-420A-829C-E6B66D7A24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9343" y="2871681"/>
            <a:ext cx="3083188" cy="212362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EF8EC84-13F4-4333-90DD-E35E9FFE6E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0843" y="5548312"/>
            <a:ext cx="1685925" cy="790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6867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44392"/>
            <a:ext cx="6553200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Asynchrony</a:t>
            </a:r>
            <a:endParaRPr lang="en-US" altLang="en-US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4E6761-7BA3-41C3-B27E-F3F5AE9A7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840" y="1834365"/>
            <a:ext cx="2572376" cy="54634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18AB861-5FBF-4CFA-A89F-BCD7D9F44404}"/>
              </a:ext>
            </a:extLst>
          </p:cNvPr>
          <p:cNvSpPr txBox="1"/>
          <p:nvPr/>
        </p:nvSpPr>
        <p:spPr>
          <a:xfrm>
            <a:off x="4279456" y="1600200"/>
            <a:ext cx="3675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B0F0"/>
                </a:solidFill>
              </a:rPr>
              <a:t>wrapped in a promise</a:t>
            </a:r>
            <a:endParaRPr lang="en-US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121373-E49E-4ECD-BBE1-885959F25CE0}"/>
              </a:ext>
            </a:extLst>
          </p:cNvPr>
          <p:cNvSpPr txBox="1"/>
          <p:nvPr/>
        </p:nvSpPr>
        <p:spPr>
          <a:xfrm>
            <a:off x="1189383" y="1487187"/>
            <a:ext cx="2544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B0F0"/>
                </a:solidFill>
              </a:rPr>
              <a:t>origin with callback</a:t>
            </a:r>
            <a:endParaRPr lang="en-US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9FB2A0-88E8-49A0-ABCE-05E0350CFBB8}"/>
              </a:ext>
            </a:extLst>
          </p:cNvPr>
          <p:cNvSpPr txBox="1"/>
          <p:nvPr/>
        </p:nvSpPr>
        <p:spPr>
          <a:xfrm>
            <a:off x="3657600" y="3671846"/>
            <a:ext cx="2544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B0F0"/>
                </a:solidFill>
              </a:rPr>
              <a:t>await model</a:t>
            </a:r>
            <a:endParaRPr lang="en-US" sz="11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54F848-E0C0-4947-B01E-AB8AB570F3FF}"/>
              </a:ext>
            </a:extLst>
          </p:cNvPr>
          <p:cNvSpPr txBox="1"/>
          <p:nvPr/>
        </p:nvSpPr>
        <p:spPr>
          <a:xfrm>
            <a:off x="257563" y="2494953"/>
            <a:ext cx="2544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00B0F0"/>
                </a:solidFill>
              </a:rPr>
              <a:t>then-catch model</a:t>
            </a: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0B58B02-5036-42C0-AB3A-EEB4AF8D5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773" y="1916075"/>
            <a:ext cx="4370311" cy="164809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58A328E-9849-49AC-B49A-35A9641AA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767" y="4022523"/>
            <a:ext cx="3058397" cy="184487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B025BDD-A2C2-49EA-A225-ABCD873242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5010150"/>
            <a:ext cx="1476375" cy="1009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5" name="Arrow: Right 34">
            <a:extLst>
              <a:ext uri="{FF2B5EF4-FFF2-40B4-BE49-F238E27FC236}">
                <a16:creationId xmlns:a16="http://schemas.microsoft.com/office/drawing/2014/main" id="{06AABBDB-F44E-4354-9098-64F543087E82}"/>
              </a:ext>
            </a:extLst>
          </p:cNvPr>
          <p:cNvSpPr/>
          <p:nvPr/>
        </p:nvSpPr>
        <p:spPr>
          <a:xfrm>
            <a:off x="6721499" y="5103583"/>
            <a:ext cx="533400" cy="6858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2FB2CB3-BC5E-48F9-BAFB-7381CA9E61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937" y="2839397"/>
            <a:ext cx="3228439" cy="230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598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910A945-9585-445B-A9D3-D3C7670F15CA}"/>
              </a:ext>
            </a:extLst>
          </p:cNvPr>
          <p:cNvSpPr/>
          <p:nvPr/>
        </p:nvSpPr>
        <p:spPr>
          <a:xfrm>
            <a:off x="609600" y="2057400"/>
            <a:ext cx="3200400" cy="35052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JS and DOM: </a:t>
            </a:r>
            <a:r>
              <a:rPr lang="en-US" altLang="en-US" dirty="0">
                <a:solidFill>
                  <a:schemeClr val="accent2"/>
                </a:solidFill>
              </a:rPr>
              <a:t>Basics</a:t>
            </a:r>
            <a:endParaRPr lang="en-US" altLang="en-US" dirty="0"/>
          </a:p>
        </p:txBody>
      </p:sp>
      <p:sp>
        <p:nvSpPr>
          <p:cNvPr id="204813" name="Rectangle 13"/>
          <p:cNvSpPr>
            <a:spLocks noChangeArrowheads="1"/>
          </p:cNvSpPr>
          <p:nvPr/>
        </p:nvSpPr>
        <p:spPr bwMode="auto">
          <a:xfrm>
            <a:off x="4114800" y="1905000"/>
            <a:ext cx="4631184" cy="4211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000099"/>
                </a:solidFill>
              </a:rPr>
              <a:t> Control Document Appearance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000099"/>
                </a:solidFill>
              </a:rPr>
              <a:t> Control Document Content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000099"/>
                </a:solidFill>
              </a:rPr>
              <a:t> Control the Browser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000099"/>
                </a:solidFill>
              </a:rPr>
              <a:t> Interact with HTML forms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000099"/>
                </a:solidFill>
              </a:rPr>
              <a:t> Interact with User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000099"/>
                </a:solidFill>
              </a:rPr>
              <a:t> Client State – cookies, sessionStorage, localStorage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000099"/>
                </a:solidFill>
              </a:rPr>
              <a:t> Native JSON support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000099"/>
                </a:solidFill>
              </a:rPr>
              <a:t> Object oriented approach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5E8450-9A5C-4F86-A16D-D22842DD2996}"/>
              </a:ext>
            </a:extLst>
          </p:cNvPr>
          <p:cNvSpPr/>
          <p:nvPr/>
        </p:nvSpPr>
        <p:spPr>
          <a:xfrm>
            <a:off x="762000" y="2209800"/>
            <a:ext cx="2915574" cy="12954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7233C3-3A60-4483-BDA0-908EED14A95E}"/>
              </a:ext>
            </a:extLst>
          </p:cNvPr>
          <p:cNvSpPr txBox="1"/>
          <p:nvPr/>
        </p:nvSpPr>
        <p:spPr>
          <a:xfrm>
            <a:off x="830062" y="2285999"/>
            <a:ext cx="713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ES5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90D14F-8E51-45D4-A318-E812FAC8A723}"/>
              </a:ext>
            </a:extLst>
          </p:cNvPr>
          <p:cNvSpPr txBox="1"/>
          <p:nvPr/>
        </p:nvSpPr>
        <p:spPr>
          <a:xfrm>
            <a:off x="1696374" y="2285999"/>
            <a:ext cx="1905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Dynamic features in web pages (frontend only)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5C6477-4BC3-4873-BE20-9959729F18D6}"/>
              </a:ext>
            </a:extLst>
          </p:cNvPr>
          <p:cNvSpPr txBox="1"/>
          <p:nvPr/>
        </p:nvSpPr>
        <p:spPr>
          <a:xfrm>
            <a:off x="830062" y="3686450"/>
            <a:ext cx="713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ES6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2A5266-C15E-48D9-9FF0-B5BAAFF04F09}"/>
              </a:ext>
            </a:extLst>
          </p:cNvPr>
          <p:cNvSpPr txBox="1"/>
          <p:nvPr/>
        </p:nvSpPr>
        <p:spPr>
          <a:xfrm>
            <a:off x="1696374" y="3686450"/>
            <a:ext cx="1905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Web pages (frontend) fully generated by JS with JS based server (backend)</a:t>
            </a:r>
          </a:p>
        </p:txBody>
      </p:sp>
    </p:spTree>
    <p:extLst>
      <p:ext uri="{BB962C8B-B14F-4D97-AF65-F5344CB8AC3E}">
        <p14:creationId xmlns:p14="http://schemas.microsoft.com/office/powerpoint/2010/main" val="2442436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544392"/>
            <a:ext cx="6553200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JS and DOM: </a:t>
            </a:r>
            <a:r>
              <a:rPr lang="en-US" altLang="en-US" dirty="0">
                <a:solidFill>
                  <a:schemeClr val="accent2"/>
                </a:solidFill>
              </a:rPr>
              <a:t>Select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104642-E721-4B5A-B9E3-F46484E04C25}"/>
              </a:ext>
            </a:extLst>
          </p:cNvPr>
          <p:cNvSpPr txBox="1"/>
          <p:nvPr/>
        </p:nvSpPr>
        <p:spPr>
          <a:xfrm>
            <a:off x="3962400" y="1903253"/>
            <a:ext cx="4333238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DOM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element.querySelector(</a:t>
            </a:r>
            <a:r>
              <a:rPr lang="en-US" sz="1400" dirty="0">
                <a:solidFill>
                  <a:srgbClr val="FF0000"/>
                </a:solidFill>
              </a:rPr>
              <a:t>selector</a:t>
            </a:r>
            <a:r>
              <a:rPr lang="en-US" sz="1400" dirty="0">
                <a:solidFill>
                  <a:schemeClr val="accent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element.querySelectorAll(</a:t>
            </a:r>
            <a:r>
              <a:rPr lang="en-US" sz="1400" dirty="0">
                <a:solidFill>
                  <a:srgbClr val="FF0000"/>
                </a:solidFill>
              </a:rPr>
              <a:t>selector</a:t>
            </a:r>
            <a:r>
              <a:rPr lang="en-US" sz="1400" dirty="0">
                <a:solidFill>
                  <a:schemeClr val="accent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element.getElementById(</a:t>
            </a:r>
            <a:r>
              <a:rPr lang="en-US" sz="1400" dirty="0">
                <a:solidFill>
                  <a:srgbClr val="FF0000"/>
                </a:solidFill>
              </a:rPr>
              <a:t>id</a:t>
            </a:r>
            <a:r>
              <a:rPr lang="en-US" sz="1400" dirty="0">
                <a:solidFill>
                  <a:schemeClr val="accent1"/>
                </a:solidFill>
              </a:rPr>
              <a:t>)</a:t>
            </a:r>
            <a:endParaRPr lang="en-US" sz="1400" b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element.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getElementByName</a:t>
            </a:r>
            <a:r>
              <a:rPr lang="en-US" sz="1400" dirty="0"/>
              <a:t>(</a:t>
            </a:r>
            <a:r>
              <a:rPr lang="en-US" sz="1400" dirty="0">
                <a:solidFill>
                  <a:srgbClr val="FF0000"/>
                </a:solidFill>
              </a:rPr>
              <a:t>name</a:t>
            </a:r>
            <a:r>
              <a:rPr lang="en-US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element.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getElementByTagName</a:t>
            </a:r>
            <a:r>
              <a:rPr lang="en-US" sz="1400" dirty="0"/>
              <a:t>(</a:t>
            </a:r>
            <a:r>
              <a:rPr lang="en-US" sz="1400" dirty="0" err="1">
                <a:solidFill>
                  <a:srgbClr val="FF0000"/>
                </a:solidFill>
              </a:rPr>
              <a:t>tagname</a:t>
            </a:r>
            <a:r>
              <a:rPr lang="en-US" sz="1400" dirty="0"/>
              <a:t>)</a:t>
            </a: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element.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getElementByClassName</a:t>
            </a:r>
            <a:r>
              <a:rPr lang="en-US" sz="1400" dirty="0"/>
              <a:t>(</a:t>
            </a:r>
            <a:r>
              <a:rPr lang="en-US" sz="1400" dirty="0" err="1">
                <a:solidFill>
                  <a:srgbClr val="FF0000"/>
                </a:solidFill>
              </a:rPr>
              <a:t>classname</a:t>
            </a:r>
            <a:r>
              <a:rPr lang="en-US" sz="1400" dirty="0"/>
              <a:t>)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A93673-CE4D-4846-A50A-EB759AA798E2}"/>
              </a:ext>
            </a:extLst>
          </p:cNvPr>
          <p:cNvSpPr txBox="1"/>
          <p:nvPr/>
        </p:nvSpPr>
        <p:spPr>
          <a:xfrm>
            <a:off x="4038600" y="6248400"/>
            <a:ext cx="45764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2"/>
              </a:rPr>
              <a:t>https://www.w3schools.com/jsref/dom_obj_document.asp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D0076-2907-4445-9DB3-8594A67DB6D3}"/>
              </a:ext>
            </a:extLst>
          </p:cNvPr>
          <p:cNvSpPr txBox="1"/>
          <p:nvPr/>
        </p:nvSpPr>
        <p:spPr>
          <a:xfrm>
            <a:off x="533400" y="1920618"/>
            <a:ext cx="31197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 HTML DOM objects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document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window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navigator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9D4485-0B46-40A5-B68C-D2B63E1182BC}"/>
              </a:ext>
            </a:extLst>
          </p:cNvPr>
          <p:cNvSpPr txBox="1"/>
          <p:nvPr/>
        </p:nvSpPr>
        <p:spPr>
          <a:xfrm>
            <a:off x="533400" y="3022937"/>
            <a:ext cx="18293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Basic Selectors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#id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.class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/>
                </a:solidFill>
              </a:rPr>
              <a:t>tag</a:t>
            </a:r>
            <a:endParaRPr 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510C2A-852A-409B-86C5-F9AAF2FF6BB4}"/>
              </a:ext>
            </a:extLst>
          </p:cNvPr>
          <p:cNvSpPr txBox="1"/>
          <p:nvPr/>
        </p:nvSpPr>
        <p:spPr>
          <a:xfrm>
            <a:off x="560507" y="4150579"/>
            <a:ext cx="3401893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Advanced Selectors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Grouped:</a:t>
            </a:r>
            <a:r>
              <a:rPr lang="en-US" sz="1400" dirty="0">
                <a:solidFill>
                  <a:schemeClr val="accent1"/>
                </a:solidFill>
              </a:rPr>
              <a:t> p, div, span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Combined:</a:t>
            </a:r>
            <a:r>
              <a:rPr lang="en-US" sz="1400" dirty="0">
                <a:solidFill>
                  <a:schemeClr val="accent1"/>
                </a:solidFill>
              </a:rPr>
              <a:t> div .cl1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Pseudo-class:</a:t>
            </a:r>
            <a:r>
              <a:rPr lang="en-US" sz="1400" dirty="0">
                <a:solidFill>
                  <a:schemeClr val="accent1"/>
                </a:solidFill>
              </a:rPr>
              <a:t> :hover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Attribute:</a:t>
            </a:r>
            <a:r>
              <a:rPr lang="en-US" sz="1400" dirty="0">
                <a:solidFill>
                  <a:schemeClr val="accent1"/>
                </a:solidFill>
              </a:rPr>
              <a:t> a[target=“_blank”]</a:t>
            </a:r>
            <a:endParaRPr 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A2245E-DCFF-4AA7-9688-A2DB77A34071}"/>
              </a:ext>
            </a:extLst>
          </p:cNvPr>
          <p:cNvSpPr txBox="1"/>
          <p:nvPr/>
        </p:nvSpPr>
        <p:spPr>
          <a:xfrm>
            <a:off x="4041952" y="5971401"/>
            <a:ext cx="45764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https://www.w3schools.com/css/css_selectors.asp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F305F9-5DC4-49A4-90EA-EEB7CD28D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4962" y="3956801"/>
            <a:ext cx="4333238" cy="160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676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44392"/>
            <a:ext cx="70104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JS and DOM: </a:t>
            </a:r>
            <a:r>
              <a:rPr lang="en-US" altLang="en-US" dirty="0">
                <a:solidFill>
                  <a:schemeClr val="accent2"/>
                </a:solidFill>
              </a:rPr>
              <a:t>Content, Storage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D8C9AD-DAA1-4AB8-A1A6-1005A8EC2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25" y="1660759"/>
            <a:ext cx="3990446" cy="36732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528A97-7A5B-4E25-AE62-2A039185E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4724400"/>
            <a:ext cx="2590800" cy="1673866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418D3F20-2AAA-441F-9799-43C3797655D2}"/>
              </a:ext>
            </a:extLst>
          </p:cNvPr>
          <p:cNvSpPr/>
          <p:nvPr/>
        </p:nvSpPr>
        <p:spPr>
          <a:xfrm>
            <a:off x="4946126" y="3527659"/>
            <a:ext cx="529273" cy="52550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4B164A-4FB3-4BD0-85FF-90021CB57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7071" y="1660759"/>
            <a:ext cx="3095338" cy="47291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2089EBD-F0E5-49E7-B57C-8C5AB8805C1B}"/>
              </a:ext>
            </a:extLst>
          </p:cNvPr>
          <p:cNvSpPr txBox="1"/>
          <p:nvPr/>
        </p:nvSpPr>
        <p:spPr>
          <a:xfrm>
            <a:off x="609600" y="5561333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3.html, 3.js</a:t>
            </a:r>
          </a:p>
        </p:txBody>
      </p:sp>
    </p:spTree>
    <p:extLst>
      <p:ext uri="{BB962C8B-B14F-4D97-AF65-F5344CB8AC3E}">
        <p14:creationId xmlns:p14="http://schemas.microsoft.com/office/powerpoint/2010/main" val="18325563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2480</TotalTime>
  <Words>818</Words>
  <Application>Microsoft Office PowerPoint</Application>
  <PresentationFormat>On-screen Show (4:3)</PresentationFormat>
  <Paragraphs>171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Consolas</vt:lpstr>
      <vt:lpstr>Lucida Sans Unicode</vt:lpstr>
      <vt:lpstr>Segoe UI</vt:lpstr>
      <vt:lpstr>Verdana</vt:lpstr>
      <vt:lpstr>Wingdings</vt:lpstr>
      <vt:lpstr>Wingdings 2</vt:lpstr>
      <vt:lpstr>Wingdings 3</vt:lpstr>
      <vt:lpstr>Concourse</vt:lpstr>
      <vt:lpstr>Image</vt:lpstr>
      <vt:lpstr>Web Technology</vt:lpstr>
      <vt:lpstr>Client and Server-side scripts</vt:lpstr>
      <vt:lpstr>HTML example 1</vt:lpstr>
      <vt:lpstr>HTML example 2</vt:lpstr>
      <vt:lpstr>JavaScript – History and Versions</vt:lpstr>
      <vt:lpstr>Lexical Structure and Variables</vt:lpstr>
      <vt:lpstr>Basic Operators</vt:lpstr>
      <vt:lpstr>Data Types: Numbers</vt:lpstr>
      <vt:lpstr>Data Types: Strings and Boolean</vt:lpstr>
      <vt:lpstr>Data Type: Array 1 </vt:lpstr>
      <vt:lpstr>Data Type: Array 2</vt:lpstr>
      <vt:lpstr>Data Type: Object 1</vt:lpstr>
      <vt:lpstr>Data Type: Object 2</vt:lpstr>
      <vt:lpstr>Data Type: Object 3</vt:lpstr>
      <vt:lpstr>Functions</vt:lpstr>
      <vt:lpstr>Asynchrony</vt:lpstr>
      <vt:lpstr>JS and DOM: Basics</vt:lpstr>
      <vt:lpstr>JS and DOM: Select</vt:lpstr>
      <vt:lpstr>JS and DOM: Content, Storage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Technology</dc:title>
  <dc:creator>Alex Keselman</dc:creator>
  <cp:lastModifiedBy>אלכסנדר קסלמן</cp:lastModifiedBy>
  <cp:revision>239</cp:revision>
  <dcterms:created xsi:type="dcterms:W3CDTF">2006-08-16T00:00:00Z</dcterms:created>
  <dcterms:modified xsi:type="dcterms:W3CDTF">2021-03-04T10:32:52Z</dcterms:modified>
</cp:coreProperties>
</file>